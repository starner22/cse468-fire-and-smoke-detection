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66" r:id="rId2"/>
    <p:sldId id="257" r:id="rId3"/>
    <p:sldId id="258" r:id="rId4"/>
    <p:sldId id="259" r:id="rId5"/>
    <p:sldId id="260" r:id="rId6"/>
    <p:sldId id="262" r:id="rId7"/>
    <p:sldId id="271" r:id="rId8"/>
    <p:sldId id="268" r:id="rId9"/>
    <p:sldId id="264" r:id="rId10"/>
    <p:sldId id="269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33FF"/>
    <a:srgbClr val="0EA5A0"/>
    <a:srgbClr val="F4631E"/>
    <a:srgbClr val="EA7E7E"/>
    <a:srgbClr val="FF69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B3B6A0-791A-4F05-BCC7-DF0017EB143F}" v="375" dt="2026-05-03T08:38:38.368"/>
    <p1510:client id="{507D2BB1-334F-454F-9829-F02BCF432E08}" v="10" dt="2026-05-03T12:42:16.7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75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ridika Tuly" userId="1e56f729759dc07c" providerId="LiveId" clId="{6AB80E12-2D8C-4BC6-9264-5518B082E7E9}"/>
    <pc:docChg chg="undo custSel modSld">
      <pc:chgData name="Hridika Tuly" userId="1e56f729759dc07c" providerId="LiveId" clId="{6AB80E12-2D8C-4BC6-9264-5518B082E7E9}" dt="2026-05-04T07:50:31.137" v="51" actId="1076"/>
      <pc:docMkLst>
        <pc:docMk/>
      </pc:docMkLst>
      <pc:sldChg chg="modSp mod">
        <pc:chgData name="Hridika Tuly" userId="1e56f729759dc07c" providerId="LiveId" clId="{6AB80E12-2D8C-4BC6-9264-5518B082E7E9}" dt="2026-05-04T07:22:27.268" v="30" actId="208"/>
        <pc:sldMkLst>
          <pc:docMk/>
          <pc:sldMk cId="0" sldId="257"/>
        </pc:sldMkLst>
        <pc:spChg chg="mod">
          <ac:chgData name="Hridika Tuly" userId="1e56f729759dc07c" providerId="LiveId" clId="{6AB80E12-2D8C-4BC6-9264-5518B082E7E9}" dt="2026-05-04T07:22:27.268" v="30" actId="208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Hridika Tuly" userId="1e56f729759dc07c" providerId="LiveId" clId="{6AB80E12-2D8C-4BC6-9264-5518B082E7E9}" dt="2026-05-04T07:48:43.839" v="37" actId="20577"/>
        <pc:sldMkLst>
          <pc:docMk/>
          <pc:sldMk cId="0" sldId="259"/>
        </pc:sldMkLst>
        <pc:spChg chg="mod">
          <ac:chgData name="Hridika Tuly" userId="1e56f729759dc07c" providerId="LiveId" clId="{6AB80E12-2D8C-4BC6-9264-5518B082E7E9}" dt="2026-05-04T07:19:54.685" v="19" actId="208"/>
          <ac:spMkLst>
            <pc:docMk/>
            <pc:sldMk cId="0" sldId="259"/>
            <ac:spMk id="3" creationId="{00000000-0000-0000-0000-000000000000}"/>
          </ac:spMkLst>
        </pc:spChg>
        <pc:spChg chg="mod">
          <ac:chgData name="Hridika Tuly" userId="1e56f729759dc07c" providerId="LiveId" clId="{6AB80E12-2D8C-4BC6-9264-5518B082E7E9}" dt="2026-05-04T07:21:25.724" v="25" actId="207"/>
          <ac:spMkLst>
            <pc:docMk/>
            <pc:sldMk cId="0" sldId="259"/>
            <ac:spMk id="10" creationId="{00000000-0000-0000-0000-000000000000}"/>
          </ac:spMkLst>
        </pc:spChg>
        <pc:spChg chg="mod">
          <ac:chgData name="Hridika Tuly" userId="1e56f729759dc07c" providerId="LiveId" clId="{6AB80E12-2D8C-4BC6-9264-5518B082E7E9}" dt="2026-05-04T07:21:34.104" v="26" actId="207"/>
          <ac:spMkLst>
            <pc:docMk/>
            <pc:sldMk cId="0" sldId="259"/>
            <ac:spMk id="11" creationId="{00000000-0000-0000-0000-000000000000}"/>
          </ac:spMkLst>
        </pc:spChg>
        <pc:spChg chg="mod">
          <ac:chgData name="Hridika Tuly" userId="1e56f729759dc07c" providerId="LiveId" clId="{6AB80E12-2D8C-4BC6-9264-5518B082E7E9}" dt="2026-05-04T07:21:43.683" v="27" actId="207"/>
          <ac:spMkLst>
            <pc:docMk/>
            <pc:sldMk cId="0" sldId="259"/>
            <ac:spMk id="12" creationId="{00000000-0000-0000-0000-000000000000}"/>
          </ac:spMkLst>
        </pc:spChg>
        <pc:spChg chg="mod">
          <ac:chgData name="Hridika Tuly" userId="1e56f729759dc07c" providerId="LiveId" clId="{6AB80E12-2D8C-4BC6-9264-5518B082E7E9}" dt="2026-05-04T07:21:52.633" v="28" actId="207"/>
          <ac:spMkLst>
            <pc:docMk/>
            <pc:sldMk cId="0" sldId="259"/>
            <ac:spMk id="13" creationId="{00000000-0000-0000-0000-000000000000}"/>
          </ac:spMkLst>
        </pc:spChg>
        <pc:spChg chg="mod">
          <ac:chgData name="Hridika Tuly" userId="1e56f729759dc07c" providerId="LiveId" clId="{6AB80E12-2D8C-4BC6-9264-5518B082E7E9}" dt="2026-05-04T07:22:00.086" v="29" actId="207"/>
          <ac:spMkLst>
            <pc:docMk/>
            <pc:sldMk cId="0" sldId="259"/>
            <ac:spMk id="14" creationId="{00000000-0000-0000-0000-000000000000}"/>
          </ac:spMkLst>
        </pc:spChg>
        <pc:spChg chg="mod">
          <ac:chgData name="Hridika Tuly" userId="1e56f729759dc07c" providerId="LiveId" clId="{6AB80E12-2D8C-4BC6-9264-5518B082E7E9}" dt="2026-05-04T07:20:39.081" v="23" actId="1076"/>
          <ac:spMkLst>
            <pc:docMk/>
            <pc:sldMk cId="0" sldId="259"/>
            <ac:spMk id="27" creationId="{00000000-0000-0000-0000-000000000000}"/>
          </ac:spMkLst>
        </pc:spChg>
        <pc:spChg chg="mod">
          <ac:chgData name="Hridika Tuly" userId="1e56f729759dc07c" providerId="LiveId" clId="{6AB80E12-2D8C-4BC6-9264-5518B082E7E9}" dt="2026-05-04T07:19:41.749" v="16" actId="207"/>
          <ac:spMkLst>
            <pc:docMk/>
            <pc:sldMk cId="0" sldId="259"/>
            <ac:spMk id="32" creationId="{00000000-0000-0000-0000-000000000000}"/>
          </ac:spMkLst>
        </pc:spChg>
        <pc:spChg chg="mod">
          <ac:chgData name="Hridika Tuly" userId="1e56f729759dc07c" providerId="LiveId" clId="{6AB80E12-2D8C-4BC6-9264-5518B082E7E9}" dt="2026-05-04T07:19:46.703" v="17" actId="207"/>
          <ac:spMkLst>
            <pc:docMk/>
            <pc:sldMk cId="0" sldId="259"/>
            <ac:spMk id="33" creationId="{00000000-0000-0000-0000-000000000000}"/>
          </ac:spMkLst>
        </pc:spChg>
        <pc:spChg chg="mod">
          <ac:chgData name="Hridika Tuly" userId="1e56f729759dc07c" providerId="LiveId" clId="{6AB80E12-2D8C-4BC6-9264-5518B082E7E9}" dt="2026-05-04T07:20:33.533" v="21" actId="207"/>
          <ac:spMkLst>
            <pc:docMk/>
            <pc:sldMk cId="0" sldId="259"/>
            <ac:spMk id="34" creationId="{00000000-0000-0000-0000-000000000000}"/>
          </ac:spMkLst>
        </pc:spChg>
        <pc:spChg chg="mod">
          <ac:chgData name="Hridika Tuly" userId="1e56f729759dc07c" providerId="LiveId" clId="{6AB80E12-2D8C-4BC6-9264-5518B082E7E9}" dt="2026-05-04T07:20:45.723" v="24" actId="207"/>
          <ac:spMkLst>
            <pc:docMk/>
            <pc:sldMk cId="0" sldId="259"/>
            <ac:spMk id="35" creationId="{00000000-0000-0000-0000-000000000000}"/>
          </ac:spMkLst>
        </pc:spChg>
        <pc:spChg chg="mod">
          <ac:chgData name="Hridika Tuly" userId="1e56f729759dc07c" providerId="LiveId" clId="{6AB80E12-2D8C-4BC6-9264-5518B082E7E9}" dt="2026-05-04T07:48:43.839" v="37" actId="20577"/>
          <ac:spMkLst>
            <pc:docMk/>
            <pc:sldMk cId="0" sldId="259"/>
            <ac:spMk id="36" creationId="{00000000-0000-0000-0000-000000000000}"/>
          </ac:spMkLst>
        </pc:spChg>
      </pc:sldChg>
      <pc:sldChg chg="modSp mod">
        <pc:chgData name="Hridika Tuly" userId="1e56f729759dc07c" providerId="LiveId" clId="{6AB80E12-2D8C-4BC6-9264-5518B082E7E9}" dt="2026-05-04T07:48:53.412" v="39" actId="20577"/>
        <pc:sldMkLst>
          <pc:docMk/>
          <pc:sldMk cId="0" sldId="260"/>
        </pc:sldMkLst>
        <pc:spChg chg="mod">
          <ac:chgData name="Hridika Tuly" userId="1e56f729759dc07c" providerId="LiveId" clId="{6AB80E12-2D8C-4BC6-9264-5518B082E7E9}" dt="2026-05-04T07:20:01.689" v="20" actId="208"/>
          <ac:spMkLst>
            <pc:docMk/>
            <pc:sldMk cId="0" sldId="260"/>
            <ac:spMk id="3" creationId="{00000000-0000-0000-0000-000000000000}"/>
          </ac:spMkLst>
        </pc:spChg>
        <pc:spChg chg="mod">
          <ac:chgData name="Hridika Tuly" userId="1e56f729759dc07c" providerId="LiveId" clId="{6AB80E12-2D8C-4BC6-9264-5518B082E7E9}" dt="2026-05-04T07:48:53.412" v="39" actId="20577"/>
          <ac:spMkLst>
            <pc:docMk/>
            <pc:sldMk cId="0" sldId="260"/>
            <ac:spMk id="20" creationId="{00000000-0000-0000-0000-000000000000}"/>
          </ac:spMkLst>
        </pc:spChg>
      </pc:sldChg>
      <pc:sldChg chg="addSp delSp modSp mod">
        <pc:chgData name="Hridika Tuly" userId="1e56f729759dc07c" providerId="LiveId" clId="{6AB80E12-2D8C-4BC6-9264-5518B082E7E9}" dt="2026-05-04T07:50:31.137" v="51" actId="1076"/>
        <pc:sldMkLst>
          <pc:docMk/>
          <pc:sldMk cId="423410264" sldId="271"/>
        </pc:sldMkLst>
        <pc:picChg chg="add del mod">
          <ac:chgData name="Hridika Tuly" userId="1e56f729759dc07c" providerId="LiveId" clId="{6AB80E12-2D8C-4BC6-9264-5518B082E7E9}" dt="2026-05-04T07:49:22.720" v="41" actId="478"/>
          <ac:picMkLst>
            <pc:docMk/>
            <pc:sldMk cId="423410264" sldId="271"/>
            <ac:picMk id="7" creationId="{59DEF14B-C499-E070-0849-07D347DDCF54}"/>
          </ac:picMkLst>
        </pc:picChg>
        <pc:picChg chg="add mod">
          <ac:chgData name="Hridika Tuly" userId="1e56f729759dc07c" providerId="LiveId" clId="{6AB80E12-2D8C-4BC6-9264-5518B082E7E9}" dt="2026-05-04T07:49:55.845" v="44" actId="1076"/>
          <ac:picMkLst>
            <pc:docMk/>
            <pc:sldMk cId="423410264" sldId="271"/>
            <ac:picMk id="9" creationId="{6FA2F84E-CE79-B9F5-59F8-195995AE89E4}"/>
          </ac:picMkLst>
        </pc:picChg>
        <pc:picChg chg="del">
          <ac:chgData name="Hridika Tuly" userId="1e56f729759dc07c" providerId="LiveId" clId="{6AB80E12-2D8C-4BC6-9264-5518B082E7E9}" dt="2026-05-04T07:49:21.266" v="40" actId="478"/>
          <ac:picMkLst>
            <pc:docMk/>
            <pc:sldMk cId="423410264" sldId="271"/>
            <ac:picMk id="10" creationId="{A3755DDE-D646-8E4F-2DE7-4DB81715C688}"/>
          </ac:picMkLst>
        </pc:picChg>
        <pc:picChg chg="add mod">
          <ac:chgData name="Hridika Tuly" userId="1e56f729759dc07c" providerId="LiveId" clId="{6AB80E12-2D8C-4BC6-9264-5518B082E7E9}" dt="2026-05-04T07:50:31.137" v="51" actId="1076"/>
          <ac:picMkLst>
            <pc:docMk/>
            <pc:sldMk cId="423410264" sldId="271"/>
            <ac:picMk id="13" creationId="{1AA365B1-2763-FE25-21A0-2B9834D7682D}"/>
          </ac:picMkLst>
        </pc:picChg>
        <pc:picChg chg="del">
          <ac:chgData name="Hridika Tuly" userId="1e56f729759dc07c" providerId="LiveId" clId="{6AB80E12-2D8C-4BC6-9264-5518B082E7E9}" dt="2026-05-04T06:47:42.038" v="0" actId="478"/>
          <ac:picMkLst>
            <pc:docMk/>
            <pc:sldMk cId="423410264" sldId="271"/>
            <ac:picMk id="14" creationId="{FBD04FA8-C69A-10BF-0779-23E4163C9B4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9D2C63-CB8E-4C69-BFB6-9AC9D8C1CA13}" type="datetimeFigureOut">
              <a:t>5/4/2026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74D9D5-28E6-4AE5-AECC-C10DA1EEC9E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80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microsoft.com/office/2007/relationships/hdphoto" Target="../media/hdphoto1.wdp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microsoft.com/office/2007/relationships/hdphoto" Target="../media/hdphoto2.wdp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21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jpg"/><Relationship Id="rId5" Type="http://schemas.openxmlformats.org/officeDocument/2006/relationships/image" Target="../media/image19.jpg"/><Relationship Id="rId4" Type="http://schemas.openxmlformats.org/officeDocument/2006/relationships/image" Target="../media/image18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7.png"/><Relationship Id="rId4" Type="http://schemas.openxmlformats.org/officeDocument/2006/relationships/image" Target="../media/image23.png"/><Relationship Id="rId9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7D48B70-643E-5398-0182-63939169A457}"/>
              </a:ext>
            </a:extLst>
          </p:cNvPr>
          <p:cNvSpPr/>
          <p:nvPr/>
        </p:nvSpPr>
        <p:spPr>
          <a:xfrm>
            <a:off x="0" y="0"/>
            <a:ext cx="4846320" cy="51435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574CFF8-DDD8-F038-8C17-129AB18155EF}"/>
              </a:ext>
            </a:extLst>
          </p:cNvPr>
          <p:cNvSpPr/>
          <p:nvPr/>
        </p:nvSpPr>
        <p:spPr>
          <a:xfrm>
            <a:off x="4846320" y="0"/>
            <a:ext cx="4297680" cy="51435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2">
                <a:lumMod val="40000"/>
                <a:lumOff val="60000"/>
              </a:schemeClr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CD5AEA1-D504-0CA3-4EA4-0978F9FE7805}"/>
              </a:ext>
            </a:extLst>
          </p:cNvPr>
          <p:cNvSpPr/>
          <p:nvPr/>
        </p:nvSpPr>
        <p:spPr>
          <a:xfrm>
            <a:off x="0" y="0"/>
            <a:ext cx="4846320" cy="109728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7857ADF-E943-3CC1-B247-52D96FE7BF83}"/>
              </a:ext>
            </a:extLst>
          </p:cNvPr>
          <p:cNvSpPr/>
          <p:nvPr/>
        </p:nvSpPr>
        <p:spPr>
          <a:xfrm>
            <a:off x="0" y="109728"/>
            <a:ext cx="54864" cy="5033772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7025232F-30E9-7C9B-D4AE-E64A06388532}"/>
              </a:ext>
            </a:extLst>
          </p:cNvPr>
          <p:cNvSpPr/>
          <p:nvPr/>
        </p:nvSpPr>
        <p:spPr>
          <a:xfrm>
            <a:off x="320040" y="256032"/>
            <a:ext cx="3108960" cy="347472"/>
          </a:xfrm>
          <a:prstGeom prst="roundRect">
            <a:avLst>
              <a:gd name="adj" fmla="val 15789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accent2">
                <a:lumMod val="50000"/>
              </a:schemeClr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4A4207A-655C-C7DE-CCF7-A2F88B8C5478}"/>
              </a:ext>
            </a:extLst>
          </p:cNvPr>
          <p:cNvSpPr/>
          <p:nvPr/>
        </p:nvSpPr>
        <p:spPr>
          <a:xfrm>
            <a:off x="320040" y="256032"/>
            <a:ext cx="3108960" cy="3474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2E"/>
                </a:solidFill>
              </a:rPr>
              <a:t>CSE 468  ·  Computer Vision  ·  Section 01  ·  Group 07</a:t>
            </a:r>
            <a:endParaRPr lang="en-US" sz="95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94884A8-64C3-2A91-547A-4DCAF760B5FF}"/>
              </a:ext>
            </a:extLst>
          </p:cNvPr>
          <p:cNvSpPr/>
          <p:nvPr/>
        </p:nvSpPr>
        <p:spPr>
          <a:xfrm>
            <a:off x="237744" y="749808"/>
            <a:ext cx="438912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Fire &amp;</a:t>
            </a:r>
            <a:endParaRPr lang="en-US" sz="6200" dirty="0"/>
          </a:p>
          <a:p>
            <a:pPr marL="0" indent="0">
              <a:buNone/>
            </a:pPr>
            <a:r>
              <a:rPr lang="en-US" sz="6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Smoke</a:t>
            </a:r>
            <a:endParaRPr lang="en-US" sz="62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24CEEA7-46D3-F02E-74B4-62F7BF7F63A6}"/>
              </a:ext>
            </a:extLst>
          </p:cNvPr>
          <p:cNvSpPr/>
          <p:nvPr/>
        </p:nvSpPr>
        <p:spPr>
          <a:xfrm>
            <a:off x="237744" y="2468880"/>
            <a:ext cx="4389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Detection</a:t>
            </a:r>
            <a:endParaRPr lang="en-US" sz="56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4404318-C77A-05BA-AF98-2E278907F1CD}"/>
              </a:ext>
            </a:extLst>
          </p:cNvPr>
          <p:cNvSpPr/>
          <p:nvPr/>
        </p:nvSpPr>
        <p:spPr>
          <a:xfrm>
            <a:off x="237744" y="3401568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E0F7FA"/>
                </a:solidFill>
              </a:rPr>
              <a:t>Real-Time Visual Hazard Detection using YOLOv8s &amp; YOLOv8n</a:t>
            </a:r>
            <a:endParaRPr lang="en-US" sz="125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9B017DC0-D0EC-4426-3A6C-8F1D5F34C22B}"/>
              </a:ext>
            </a:extLst>
          </p:cNvPr>
          <p:cNvSpPr/>
          <p:nvPr/>
        </p:nvSpPr>
        <p:spPr>
          <a:xfrm>
            <a:off x="237744" y="3913632"/>
            <a:ext cx="2560320" cy="502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accent2">
                <a:lumMod val="20000"/>
                <a:lumOff val="80000"/>
              </a:schemeClr>
            </a:solidFill>
            <a:prstDash val="solid"/>
          </a:ln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CE5AC94-2920-21F3-9882-3E4528B0DE96}"/>
              </a:ext>
            </a:extLst>
          </p:cNvPr>
          <p:cNvSpPr/>
          <p:nvPr/>
        </p:nvSpPr>
        <p:spPr>
          <a:xfrm>
            <a:off x="237744" y="405993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Khatune Jannat  ·  2131916642</a:t>
            </a:r>
            <a:endParaRPr lang="en-US" sz="12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ACAAC472-DA27-C564-8F9C-6333BF7E6F28}"/>
              </a:ext>
            </a:extLst>
          </p:cNvPr>
          <p:cNvSpPr/>
          <p:nvPr/>
        </p:nvSpPr>
        <p:spPr>
          <a:xfrm>
            <a:off x="237744" y="437083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Mahdin Muhammad Jakir  ·  2232411042</a:t>
            </a:r>
            <a:endParaRPr lang="en-US" sz="12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068C93DC-21C0-A14F-3AE7-AB51A5EE5E2B}"/>
              </a:ext>
            </a:extLst>
          </p:cNvPr>
          <p:cNvSpPr/>
          <p:nvPr/>
        </p:nvSpPr>
        <p:spPr>
          <a:xfrm>
            <a:off x="237744" y="4718304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8909C"/>
                </a:solidFill>
              </a:rPr>
              <a:t>North South University  ·  Dhaka, Bangladesh  ·  May 2026</a:t>
            </a:r>
            <a:endParaRPr lang="en-US" sz="950" dirty="0"/>
          </a:p>
        </p:txBody>
      </p:sp>
      <p:pic>
        <p:nvPicPr>
          <p:cNvPr id="15" name="Image 0" descr="preencoded.png">
            <a:extLst>
              <a:ext uri="{FF2B5EF4-FFF2-40B4-BE49-F238E27FC236}">
                <a16:creationId xmlns:a16="http://schemas.microsoft.com/office/drawing/2014/main" id="{2240F1F3-CEA7-CD8E-D86F-7CCBC6A4BD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956048" y="141732"/>
            <a:ext cx="4041648" cy="2395728"/>
          </a:xfrm>
          <a:prstGeom prst="rect">
            <a:avLst/>
          </a:prstGeom>
          <a:solidFill>
            <a:schemeClr val="accent2"/>
          </a:solidFill>
          <a:ln>
            <a:solidFill>
              <a:schemeClr val="accent2">
                <a:lumMod val="75000"/>
              </a:schemeClr>
            </a:solidFill>
          </a:ln>
        </p:spPr>
      </p:pic>
      <p:sp>
        <p:nvSpPr>
          <p:cNvPr id="16" name="Shape 13">
            <a:extLst>
              <a:ext uri="{FF2B5EF4-FFF2-40B4-BE49-F238E27FC236}">
                <a16:creationId xmlns:a16="http://schemas.microsoft.com/office/drawing/2014/main" id="{2463A389-9F67-992B-6DAD-FDB571A10A23}"/>
              </a:ext>
            </a:extLst>
          </p:cNvPr>
          <p:cNvSpPr/>
          <p:nvPr/>
        </p:nvSpPr>
        <p:spPr>
          <a:xfrm>
            <a:off x="4956048" y="128016"/>
            <a:ext cx="4041648" cy="2395728"/>
          </a:xfrm>
          <a:prstGeom prst="rect">
            <a:avLst/>
          </a:prstGeom>
          <a:ln w="31750">
            <a:solidFill>
              <a:schemeClr val="accent2"/>
            </a:solidFill>
            <a:prstDash val="solid"/>
          </a:ln>
        </p:spPr>
      </p:sp>
      <p:pic>
        <p:nvPicPr>
          <p:cNvPr id="17" name="Image 1" descr="preencoded.png">
            <a:extLst>
              <a:ext uri="{FF2B5EF4-FFF2-40B4-BE49-F238E27FC236}">
                <a16:creationId xmlns:a16="http://schemas.microsoft.com/office/drawing/2014/main" id="{99EDCC59-7008-EE42-9469-32E7861AE59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956048" y="2651760"/>
            <a:ext cx="4041648" cy="2377440"/>
          </a:xfrm>
          <a:prstGeom prst="rect">
            <a:avLst/>
          </a:prstGeom>
          <a:ln>
            <a:solidFill>
              <a:schemeClr val="accent2"/>
            </a:solidFill>
          </a:ln>
        </p:spPr>
      </p:pic>
      <p:sp>
        <p:nvSpPr>
          <p:cNvPr id="18" name="Shape 14">
            <a:extLst>
              <a:ext uri="{FF2B5EF4-FFF2-40B4-BE49-F238E27FC236}">
                <a16:creationId xmlns:a16="http://schemas.microsoft.com/office/drawing/2014/main" id="{A4B4A26E-8DBD-388C-4803-88287B071883}"/>
              </a:ext>
            </a:extLst>
          </p:cNvPr>
          <p:cNvSpPr/>
          <p:nvPr/>
        </p:nvSpPr>
        <p:spPr>
          <a:xfrm>
            <a:off x="4956048" y="2651760"/>
            <a:ext cx="4041648" cy="2377440"/>
          </a:xfrm>
          <a:prstGeom prst="rect">
            <a:avLst/>
          </a:prstGeom>
          <a:ln w="31750">
            <a:solidFill>
              <a:schemeClr val="accent2"/>
            </a:solidFill>
            <a:prstDash val="solid"/>
          </a:ln>
        </p:spPr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699CC631-D84F-E098-C402-339DDB4E55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0338" y="2670428"/>
            <a:ext cx="3969364" cy="2331339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F9C3B992-46BC-562E-59F9-2CDCDD5244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0338" y="141732"/>
            <a:ext cx="3969364" cy="2363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9963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Problem Statement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0" y="21945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01168" y="932688"/>
            <a:ext cx="41605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" y="932688"/>
            <a:ext cx="4160520" cy="4572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accent2">
                <a:lumMod val="60000"/>
                <a:lumOff val="40000"/>
              </a:scheme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" y="978408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58368" y="93268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>
                    <a:lumMod val="50000"/>
                  </a:schemeClr>
                </a:solidFill>
              </a:rPr>
              <a:t>The Problem</a:t>
            </a:r>
            <a:endParaRPr lang="en-US" sz="15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Shape 7"/>
          <p:cNvSpPr/>
          <p:nvPr/>
        </p:nvSpPr>
        <p:spPr>
          <a:xfrm>
            <a:off x="292608" y="1499616"/>
            <a:ext cx="329184" cy="329184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92608" y="14996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94944" y="1481328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b="1" dirty="0">
                <a:solidFill>
                  <a:srgbClr val="1E293B"/>
                </a:solidFill>
                <a:ea typeface="Calibri"/>
                <a:cs typeface="Calibri"/>
              </a:rPr>
              <a:t>Expensive and Resource-Intensive Systems</a:t>
            </a:r>
          </a:p>
        </p:txBody>
      </p:sp>
      <p:sp>
        <p:nvSpPr>
          <p:cNvPr id="13" name="Text 10"/>
          <p:cNvSpPr/>
          <p:nvPr/>
        </p:nvSpPr>
        <p:spPr>
          <a:xfrm>
            <a:off x="694944" y="170078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/>
              <a:t>Conventional fire detection systems depend on costly sensors and infrastructure, limiting accessibility in many regions.</a:t>
            </a:r>
          </a:p>
        </p:txBody>
      </p:sp>
      <p:sp>
        <p:nvSpPr>
          <p:cNvPr id="15" name="Text 12"/>
          <p:cNvSpPr/>
          <p:nvPr/>
        </p:nvSpPr>
        <p:spPr>
          <a:xfrm>
            <a:off x="301752" y="2282952"/>
            <a:ext cx="329184" cy="329184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94944" y="2249424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E293B"/>
                </a:solidFill>
              </a:rPr>
              <a:t>Billions in damage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694944" y="246888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Industrial &amp; wildfire disasters destroy infrastructure worth billions every year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292608" y="3035808"/>
            <a:ext cx="329184" cy="329184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92608" y="30358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94944" y="3017520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</a:rPr>
              <a:t>Delayed sensor response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694944" y="323697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Traditional heat/smoke sensors react ONLY after fire is already widespread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292608" y="3803904"/>
            <a:ext cx="329184" cy="329184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92608" y="38039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94944" y="3785616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</a:rPr>
              <a:t>High false-alarm rates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694944" y="400507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Dust, steam, and cooking vapour constantly trigger false alarms in sensor systems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4773168" y="932688"/>
            <a:ext cx="41605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773168" y="932688"/>
            <a:ext cx="4160520" cy="4572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accent2">
                <a:lumMod val="60000"/>
                <a:lumOff val="40000"/>
              </a:schemeClr>
            </a:solidFill>
            <a:prstDash val="solid"/>
          </a:ln>
        </p:spPr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978408"/>
            <a:ext cx="292608" cy="292608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5230368" y="93268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>
                    <a:lumMod val="50000"/>
                  </a:schemeClr>
                </a:solidFill>
              </a:rPr>
              <a:t>Why Traditional Methods Fail</a:t>
            </a:r>
            <a:endParaRPr lang="en-US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>
            <a:biLevel thresh="75000"/>
          </a:blip>
          <a:stretch>
            <a:fillRect/>
          </a:stretch>
        </p:blipFill>
        <p:spPr>
          <a:xfrm>
            <a:off x="4864608" y="1499616"/>
            <a:ext cx="292608" cy="292608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5230368" y="148132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</a:rPr>
              <a:t>Ionisation sensors</a:t>
            </a:r>
            <a:endParaRPr lang="en-US" sz="1150" dirty="0"/>
          </a:p>
        </p:txBody>
      </p:sp>
      <p:sp>
        <p:nvSpPr>
          <p:cNvPr id="32" name="Text 27"/>
          <p:cNvSpPr/>
          <p:nvPr/>
        </p:nvSpPr>
        <p:spPr>
          <a:xfrm>
            <a:off x="5230368" y="170078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Proximity-dependent — useless if fire starts far from sensor</a:t>
            </a:r>
            <a:endParaRPr lang="en-US" sz="950" dirty="0"/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6">
            <a:biLevel thresh="75000"/>
          </a:blip>
          <a:stretch>
            <a:fillRect/>
          </a:stretch>
        </p:blipFill>
        <p:spPr>
          <a:xfrm>
            <a:off x="4864608" y="2267712"/>
            <a:ext cx="292608" cy="292608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5230368" y="224942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</a:rPr>
              <a:t>CCTV infrastructure</a:t>
            </a:r>
            <a:endParaRPr lang="en-US" sz="1150" dirty="0"/>
          </a:p>
        </p:txBody>
      </p:sp>
      <p:sp>
        <p:nvSpPr>
          <p:cNvPr id="35" name="Text 29"/>
          <p:cNvSpPr/>
          <p:nvPr/>
        </p:nvSpPr>
        <p:spPr>
          <a:xfrm>
            <a:off x="5230368" y="24688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Massively underutilised — cameras exist but nobody watches 24/7</a:t>
            </a:r>
            <a:endParaRPr lang="en-US" sz="950" dirty="0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4">
            <a:biLevel thresh="50000"/>
          </a:blip>
          <a:stretch>
            <a:fillRect/>
          </a:stretch>
        </p:blipFill>
        <p:spPr>
          <a:xfrm>
            <a:off x="4864608" y="3035808"/>
            <a:ext cx="292608" cy="292608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5230368" y="301752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</a:rPr>
              <a:t>Manual monitoring</a:t>
            </a:r>
            <a:endParaRPr lang="en-US" sz="1150" dirty="0"/>
          </a:p>
        </p:txBody>
      </p:sp>
      <p:sp>
        <p:nvSpPr>
          <p:cNvPr id="38" name="Text 31"/>
          <p:cNvSpPr/>
          <p:nvPr/>
        </p:nvSpPr>
        <p:spPr>
          <a:xfrm>
            <a:off x="5230368" y="323697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Infeasible at scale — human attention lapses, costs skyrocket</a:t>
            </a:r>
            <a:endParaRPr lang="en-US" sz="950" dirty="0"/>
          </a:p>
        </p:txBody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3">
            <a:biLevel thresh="75000"/>
          </a:blip>
          <a:stretch>
            <a:fillRect/>
          </a:stretch>
        </p:blipFill>
        <p:spPr>
          <a:xfrm>
            <a:off x="4864608" y="3803904"/>
            <a:ext cx="292608" cy="292608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5230368" y="378561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</a:rPr>
              <a:t>No visual context</a:t>
            </a:r>
            <a:endParaRPr lang="en-US" sz="1150" dirty="0"/>
          </a:p>
        </p:txBody>
      </p:sp>
      <p:sp>
        <p:nvSpPr>
          <p:cNvPr id="41" name="Text 33"/>
          <p:cNvSpPr/>
          <p:nvPr/>
        </p:nvSpPr>
        <p:spPr>
          <a:xfrm>
            <a:off x="5230368" y="40050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Sensors give no spatial info — responders can't locate the hazard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Our Solution  —  Optical Camera-Based Fire &amp; Smoke Detector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01168" y="896112"/>
            <a:ext cx="8741664" cy="100584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950976"/>
            <a:ext cx="8503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2060"/>
                </a:solidFill>
              </a:rPr>
              <a:t>Deploy </a:t>
            </a:r>
            <a:r>
              <a:rPr lang="en-US" sz="1600" b="1" dirty="0">
                <a:solidFill>
                  <a:srgbClr val="0EA5A0"/>
                </a:solidFill>
              </a:rPr>
              <a:t>optical cameras</a:t>
            </a:r>
            <a:r>
              <a:rPr lang="en-US" sz="1600" dirty="0">
                <a:solidFill>
                  <a:srgbClr val="94A3B8"/>
                </a:solidFill>
              </a:rPr>
              <a:t> </a:t>
            </a:r>
            <a:r>
              <a:rPr lang="en-US" sz="1600" dirty="0">
                <a:solidFill>
                  <a:srgbClr val="002060"/>
                </a:solidFill>
              </a:rPr>
              <a:t>on existing CCTV infrastructure + </a:t>
            </a:r>
            <a:r>
              <a:rPr lang="en-US" sz="1600" b="1" dirty="0">
                <a:solidFill>
                  <a:srgbClr val="9933FF"/>
                </a:solidFill>
              </a:rPr>
              <a:t>YOLOv8 deep learning</a:t>
            </a:r>
            <a:r>
              <a:rPr lang="en-US" sz="1600" dirty="0">
                <a:solidFill>
                  <a:srgbClr val="9933FF"/>
                </a:solidFill>
              </a:rPr>
              <a:t> </a:t>
            </a:r>
            <a:r>
              <a:rPr lang="en-US" sz="1600" dirty="0">
                <a:solidFill>
                  <a:srgbClr val="002060"/>
                </a:solidFill>
              </a:rPr>
              <a:t>to detect fire &amp; smoke </a:t>
            </a: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</a:rPr>
              <a:t>in real-time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1600" dirty="0">
                <a:solidFill>
                  <a:srgbClr val="002060"/>
                </a:solidFill>
              </a:rPr>
              <a:t>with bounding-box precision.</a:t>
            </a:r>
          </a:p>
        </p:txBody>
      </p:sp>
      <p:sp>
        <p:nvSpPr>
          <p:cNvPr id="7" name="Shape 5"/>
          <p:cNvSpPr/>
          <p:nvPr/>
        </p:nvSpPr>
        <p:spPr>
          <a:xfrm>
            <a:off x="201168" y="2029968"/>
            <a:ext cx="2029968" cy="2898648"/>
          </a:xfrm>
          <a:prstGeom prst="rect">
            <a:avLst/>
          </a:prstGeom>
          <a:solidFill>
            <a:schemeClr val="bg1"/>
          </a:solidFill>
          <a:ln w="25400">
            <a:solidFill>
              <a:srgbClr val="0EA5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1168" y="2029968"/>
            <a:ext cx="2029968" cy="457200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2578608"/>
            <a:ext cx="475488" cy="47548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01168" y="2029968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Optical Camera Input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01168" y="3163824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2060"/>
                </a:solidFill>
              </a:rPr>
              <a:t>Standard RGB CCTV feed</a:t>
            </a:r>
          </a:p>
        </p:txBody>
      </p:sp>
      <p:sp>
        <p:nvSpPr>
          <p:cNvPr id="12" name="Text 9"/>
          <p:cNvSpPr/>
          <p:nvPr/>
        </p:nvSpPr>
        <p:spPr>
          <a:xfrm>
            <a:off x="201168" y="3547872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2060"/>
                </a:solidFill>
              </a:rPr>
              <a:t>No special hardware needed</a:t>
            </a:r>
          </a:p>
        </p:txBody>
      </p:sp>
      <p:sp>
        <p:nvSpPr>
          <p:cNvPr id="13" name="Text 10"/>
          <p:cNvSpPr/>
          <p:nvPr/>
        </p:nvSpPr>
        <p:spPr>
          <a:xfrm>
            <a:off x="201168" y="3931920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002060"/>
                </a:solidFill>
                <a:ea typeface="Calibri"/>
                <a:cs typeface="Calibri"/>
              </a:rPr>
              <a:t>Quantization for edge devices</a:t>
            </a:r>
          </a:p>
          <a:p>
            <a:pPr algn="ctr"/>
            <a:r>
              <a:rPr lang="en-US" sz="1050" dirty="0">
                <a:solidFill>
                  <a:srgbClr val="002060"/>
                </a:solidFill>
                <a:ea typeface="Calibri"/>
                <a:cs typeface="Calibri"/>
              </a:rPr>
              <a:t>(future works)</a:t>
            </a:r>
          </a:p>
        </p:txBody>
      </p:sp>
      <p:sp>
        <p:nvSpPr>
          <p:cNvPr id="14" name="Shape 11"/>
          <p:cNvSpPr/>
          <p:nvPr/>
        </p:nvSpPr>
        <p:spPr>
          <a:xfrm>
            <a:off x="2395728" y="2062480"/>
            <a:ext cx="2029968" cy="2898648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2">
                <a:lumMod val="75000"/>
              </a:scheme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395728" y="2029968"/>
            <a:ext cx="2029968" cy="4572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solidFill>
              <a:schemeClr val="accent2">
                <a:lumMod val="75000"/>
              </a:scheme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>
            <a:duotone>
              <a:prstClr val="black"/>
              <a:srgbClr val="F4631E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  <a14:imgEffect>
                      <a14:brightnessContrast bright="4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63824" y="2578608"/>
            <a:ext cx="475488" cy="47548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395728" y="2029968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Real-Time Detection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2395728" y="3163824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002060"/>
                </a:solidFill>
              </a:rPr>
              <a:t>~14 </a:t>
            </a:r>
            <a:r>
              <a:rPr lang="en-US" sz="1050" dirty="0" err="1">
                <a:solidFill>
                  <a:srgbClr val="002060"/>
                </a:solidFill>
              </a:rPr>
              <a:t>ms</a:t>
            </a:r>
            <a:r>
              <a:rPr lang="en-US" sz="1050" dirty="0">
                <a:solidFill>
                  <a:srgbClr val="002060"/>
                </a:solidFill>
              </a:rPr>
              <a:t> per frame</a:t>
            </a:r>
          </a:p>
        </p:txBody>
      </p:sp>
      <p:sp>
        <p:nvSpPr>
          <p:cNvPr id="19" name="Text 15"/>
          <p:cNvSpPr/>
          <p:nvPr/>
        </p:nvSpPr>
        <p:spPr>
          <a:xfrm>
            <a:off x="2395728" y="3547872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>
              <a:solidFill>
                <a:srgbClr val="94A3B8"/>
              </a:solidFill>
              <a:ea typeface="Calibri"/>
              <a:cs typeface="Calibri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2395728" y="3413760"/>
            <a:ext cx="2029968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2060"/>
                </a:solidFill>
              </a:rPr>
              <a:t>Live bounding-box output</a:t>
            </a:r>
          </a:p>
        </p:txBody>
      </p:sp>
      <p:sp>
        <p:nvSpPr>
          <p:cNvPr id="21" name="Shape 17"/>
          <p:cNvSpPr/>
          <p:nvPr/>
        </p:nvSpPr>
        <p:spPr>
          <a:xfrm>
            <a:off x="4590288" y="2029968"/>
            <a:ext cx="2029968" cy="2898648"/>
          </a:xfrm>
          <a:prstGeom prst="rect">
            <a:avLst/>
          </a:prstGeom>
          <a:solidFill>
            <a:schemeClr val="bg1"/>
          </a:solidFill>
          <a:ln w="254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4590288" y="2029968"/>
            <a:ext cx="2029968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58384" y="2578608"/>
            <a:ext cx="475488" cy="47548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590288" y="2029968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YOLOv8 Deep Learning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4590288" y="3163824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2060"/>
                </a:solidFill>
              </a:rPr>
              <a:t>Trained on 45,252 images</a:t>
            </a:r>
          </a:p>
        </p:txBody>
      </p:sp>
      <p:sp>
        <p:nvSpPr>
          <p:cNvPr id="26" name="Text 21"/>
          <p:cNvSpPr/>
          <p:nvPr/>
        </p:nvSpPr>
        <p:spPr>
          <a:xfrm>
            <a:off x="4590288" y="3547872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2060"/>
                </a:solidFill>
              </a:rPr>
              <a:t>2 classes: Fire &amp; Smoke</a:t>
            </a:r>
          </a:p>
        </p:txBody>
      </p:sp>
      <p:sp>
        <p:nvSpPr>
          <p:cNvPr id="27" name="Text 22"/>
          <p:cNvSpPr/>
          <p:nvPr/>
        </p:nvSpPr>
        <p:spPr>
          <a:xfrm>
            <a:off x="4590288" y="3931920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2060"/>
                </a:solidFill>
              </a:rPr>
              <a:t>81.8% mAP@0.5</a:t>
            </a:r>
          </a:p>
        </p:txBody>
      </p:sp>
      <p:sp>
        <p:nvSpPr>
          <p:cNvPr id="28" name="Shape 23"/>
          <p:cNvSpPr/>
          <p:nvPr/>
        </p:nvSpPr>
        <p:spPr>
          <a:xfrm>
            <a:off x="6775704" y="2043684"/>
            <a:ext cx="2029968" cy="2898648"/>
          </a:xfrm>
          <a:prstGeom prst="rect">
            <a:avLst/>
          </a:prstGeom>
          <a:solidFill>
            <a:schemeClr val="bg1"/>
          </a:solidFill>
          <a:ln w="254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6775704" y="2043684"/>
            <a:ext cx="2029968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52944" y="2578608"/>
            <a:ext cx="475488" cy="475488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6784848" y="2029968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Instant Alert System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6784848" y="3163824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2060"/>
                </a:solidFill>
              </a:rPr>
              <a:t>Auto-trigger on detection</a:t>
            </a:r>
          </a:p>
        </p:txBody>
      </p:sp>
      <p:sp>
        <p:nvSpPr>
          <p:cNvPr id="33" name="Text 27"/>
          <p:cNvSpPr/>
          <p:nvPr/>
        </p:nvSpPr>
        <p:spPr>
          <a:xfrm>
            <a:off x="6784848" y="3547872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002060"/>
                </a:solidFill>
              </a:rPr>
              <a:t>CCTV integration ready</a:t>
            </a:r>
          </a:p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34" name="Text 28"/>
          <p:cNvSpPr/>
          <p:nvPr/>
        </p:nvSpPr>
        <p:spPr>
          <a:xfrm>
            <a:off x="6784848" y="3931920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35" name="Shape 29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chemeClr val="bg1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502920" y="490118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Methodology Pipeline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65176" y="931164"/>
            <a:ext cx="2029968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-1151382" y="87249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201168" y="1682496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93B"/>
                </a:solidFill>
              </a:rPr>
              <a:t>Data Collection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292608" y="2157984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631E"/>
                </a:solidFill>
              </a:rPr>
              <a:t>  </a:t>
            </a:r>
            <a:r>
              <a:rPr lang="en-US" sz="1000" dirty="0">
                <a:solidFill>
                  <a:schemeClr val="accent5">
                    <a:lumMod val="50000"/>
                  </a:schemeClr>
                </a:solidFill>
              </a:rPr>
              <a:t>D-Fire (20K)</a:t>
            </a:r>
          </a:p>
        </p:txBody>
      </p:sp>
      <p:sp>
        <p:nvSpPr>
          <p:cNvPr id="11" name="Text 8"/>
          <p:cNvSpPr/>
          <p:nvPr/>
        </p:nvSpPr>
        <p:spPr>
          <a:xfrm>
            <a:off x="292608" y="2542032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631E"/>
                </a:solidFill>
              </a:rPr>
              <a:t>  </a:t>
            </a:r>
            <a:r>
              <a:rPr lang="en-US" sz="1000" dirty="0">
                <a:solidFill>
                  <a:schemeClr val="accent5">
                    <a:lumMod val="50000"/>
                  </a:schemeClr>
                </a:solidFill>
              </a:rPr>
              <a:t>Indoor Fire (8K)</a:t>
            </a:r>
          </a:p>
        </p:txBody>
      </p:sp>
      <p:sp>
        <p:nvSpPr>
          <p:cNvPr id="12" name="Text 9"/>
          <p:cNvSpPr/>
          <p:nvPr/>
        </p:nvSpPr>
        <p:spPr>
          <a:xfrm>
            <a:off x="292608" y="292608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5">
                    <a:lumMod val="50000"/>
                  </a:schemeClr>
                </a:solidFill>
              </a:rPr>
              <a:t>  </a:t>
            </a:r>
            <a:r>
              <a:rPr lang="en-US" sz="1000" dirty="0">
                <a:solidFill>
                  <a:schemeClr val="accent5">
                    <a:lumMod val="50000"/>
                  </a:schemeClr>
                </a:solidFill>
              </a:rPr>
              <a:t>Flame-BD (2K)</a:t>
            </a:r>
          </a:p>
        </p:txBody>
      </p:sp>
      <p:sp>
        <p:nvSpPr>
          <p:cNvPr id="13" name="Text 10"/>
          <p:cNvSpPr/>
          <p:nvPr/>
        </p:nvSpPr>
        <p:spPr>
          <a:xfrm>
            <a:off x="292608" y="3310128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631E"/>
                </a:solidFill>
              </a:rPr>
              <a:t>  </a:t>
            </a:r>
            <a:r>
              <a:rPr lang="en-US" sz="1000" dirty="0">
                <a:solidFill>
                  <a:schemeClr val="accent5">
                    <a:lumMod val="50000"/>
                  </a:schemeClr>
                </a:solidFill>
              </a:rPr>
              <a:t>Iron Wolf (15K)</a:t>
            </a:r>
          </a:p>
        </p:txBody>
      </p:sp>
      <p:sp>
        <p:nvSpPr>
          <p:cNvPr id="14" name="Text 11"/>
          <p:cNvSpPr/>
          <p:nvPr/>
        </p:nvSpPr>
        <p:spPr>
          <a:xfrm>
            <a:off x="292608" y="3694176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631E"/>
                </a:solidFill>
              </a:rPr>
              <a:t>  </a:t>
            </a:r>
            <a:r>
              <a:rPr lang="en-US" sz="1000" dirty="0">
                <a:solidFill>
                  <a:schemeClr val="accent5">
                    <a:lumMod val="50000"/>
                  </a:schemeClr>
                </a:solidFill>
              </a:rPr>
              <a:t>45,252 total images</a:t>
            </a:r>
          </a:p>
        </p:txBody>
      </p:sp>
      <p:sp>
        <p:nvSpPr>
          <p:cNvPr id="15" name="Text 12"/>
          <p:cNvSpPr/>
          <p:nvPr/>
        </p:nvSpPr>
        <p:spPr>
          <a:xfrm>
            <a:off x="2231136" y="192024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2493264" y="926592"/>
            <a:ext cx="2029968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69748" y="934974"/>
            <a:ext cx="2029968" cy="749808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414016" y="950976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0" name="Text 16"/>
          <p:cNvSpPr/>
          <p:nvPr/>
        </p:nvSpPr>
        <p:spPr>
          <a:xfrm>
            <a:off x="2414016" y="1682496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93B"/>
                </a:solidFill>
              </a:rPr>
              <a:t>Data Preprocessing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2505456" y="2157984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A0"/>
                </a:solidFill>
              </a:rPr>
              <a:t>  </a:t>
            </a:r>
            <a:r>
              <a:rPr lang="en-US" sz="1000" dirty="0">
                <a:solidFill>
                  <a:srgbClr val="4A5568"/>
                </a:solidFill>
              </a:rPr>
              <a:t>Class remapping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2505456" y="2542032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A0"/>
                </a:solidFill>
              </a:rPr>
              <a:t>  </a:t>
            </a:r>
            <a:r>
              <a:rPr lang="en-US" sz="1000" dirty="0">
                <a:solidFill>
                  <a:srgbClr val="4A5568"/>
                </a:solidFill>
              </a:rPr>
              <a:t>Collision-free naming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2505456" y="292608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A0"/>
                </a:solidFill>
              </a:rPr>
              <a:t>  </a:t>
            </a:r>
            <a:r>
              <a:rPr lang="en-US" sz="1000" dirty="0">
                <a:solidFill>
                  <a:srgbClr val="4A5568"/>
                </a:solidFill>
              </a:rPr>
              <a:t>70/20/10 split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2505456" y="3310128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A0"/>
                </a:solidFill>
              </a:rPr>
              <a:t> </a:t>
            </a:r>
            <a:endParaRPr lang="en-US" sz="1000">
              <a:solidFill>
                <a:srgbClr val="4A5568"/>
              </a:solidFill>
              <a:ea typeface="Calibri"/>
              <a:cs typeface="Calibri"/>
            </a:endParaRPr>
          </a:p>
        </p:txBody>
      </p:sp>
      <p:sp>
        <p:nvSpPr>
          <p:cNvPr id="25" name="Text 21"/>
          <p:cNvSpPr/>
          <p:nvPr/>
        </p:nvSpPr>
        <p:spPr>
          <a:xfrm>
            <a:off x="2505456" y="3694176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A0"/>
                </a:solidFill>
              </a:rPr>
              <a:t> </a:t>
            </a:r>
            <a:endParaRPr lang="en-US" sz="1000">
              <a:solidFill>
                <a:srgbClr val="4A5568"/>
              </a:solidFill>
              <a:ea typeface="Calibri"/>
              <a:cs typeface="Calibri"/>
            </a:endParaRPr>
          </a:p>
        </p:txBody>
      </p:sp>
      <p:sp>
        <p:nvSpPr>
          <p:cNvPr id="26" name="Text 22"/>
          <p:cNvSpPr/>
          <p:nvPr/>
        </p:nvSpPr>
        <p:spPr>
          <a:xfrm>
            <a:off x="4443984" y="192024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4626864" y="932688"/>
            <a:ext cx="2029968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4636008" y="934974"/>
            <a:ext cx="2029968" cy="7498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4626864" y="950976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>
              <a:solidFill>
                <a:schemeClr val="bg1"/>
              </a:solidFill>
            </a:endParaRPr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88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08192" y="978408"/>
            <a:ext cx="457200" cy="45720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4626864" y="1682496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93B"/>
                </a:solidFill>
              </a:rPr>
              <a:t>Model Hypertuning</a:t>
            </a:r>
            <a:endParaRPr lang="en-US" sz="1250" dirty="0"/>
          </a:p>
        </p:txBody>
      </p:sp>
      <p:sp>
        <p:nvSpPr>
          <p:cNvPr id="32" name="Text 27"/>
          <p:cNvSpPr/>
          <p:nvPr/>
        </p:nvSpPr>
        <p:spPr>
          <a:xfrm>
            <a:off x="4718304" y="2157984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</a:rPr>
              <a:t>  </a:t>
            </a:r>
            <a:r>
              <a:rPr lang="en-US" sz="1000" dirty="0">
                <a:solidFill>
                  <a:schemeClr val="accent5">
                    <a:lumMod val="50000"/>
                  </a:schemeClr>
                </a:solidFill>
              </a:rPr>
              <a:t>YOLOv8n vs YOLOv8s</a:t>
            </a:r>
          </a:p>
        </p:txBody>
      </p:sp>
      <p:sp>
        <p:nvSpPr>
          <p:cNvPr id="33" name="Text 28"/>
          <p:cNvSpPr/>
          <p:nvPr/>
        </p:nvSpPr>
        <p:spPr>
          <a:xfrm>
            <a:off x="4718304" y="2542032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</a:rPr>
              <a:t>  </a:t>
            </a:r>
            <a:r>
              <a:rPr lang="en-US" sz="1000" dirty="0">
                <a:solidFill>
                  <a:schemeClr val="accent5">
                    <a:lumMod val="50000"/>
                  </a:schemeClr>
                </a:solidFill>
              </a:rPr>
              <a:t>Epoch sweep: 45</a:t>
            </a:r>
          </a:p>
        </p:txBody>
      </p:sp>
      <p:sp>
        <p:nvSpPr>
          <p:cNvPr id="34" name="Text 29"/>
          <p:cNvSpPr/>
          <p:nvPr/>
        </p:nvSpPr>
        <p:spPr>
          <a:xfrm>
            <a:off x="4718304" y="292608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</a:rPr>
              <a:t> </a:t>
            </a:r>
            <a:r>
              <a:rPr lang="en-US" sz="1000" b="1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US" sz="1000" dirty="0">
                <a:solidFill>
                  <a:schemeClr val="accent5">
                    <a:lumMod val="50000"/>
                  </a:schemeClr>
                </a:solidFill>
              </a:rPr>
              <a:t>Batch size: 32</a:t>
            </a:r>
          </a:p>
        </p:txBody>
      </p:sp>
      <p:sp>
        <p:nvSpPr>
          <p:cNvPr id="35" name="Text 30"/>
          <p:cNvSpPr/>
          <p:nvPr/>
        </p:nvSpPr>
        <p:spPr>
          <a:xfrm>
            <a:off x="4718304" y="3310128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4A5568"/>
                </a:solidFill>
                <a:ea typeface="Calibri"/>
                <a:cs typeface="Calibri"/>
              </a:rPr>
              <a:t>  </a:t>
            </a:r>
            <a:r>
              <a:rPr lang="en-US" sz="1000" dirty="0">
                <a:solidFill>
                  <a:schemeClr val="accent5">
                    <a:lumMod val="50000"/>
                  </a:schemeClr>
                </a:solidFill>
                <a:ea typeface="Calibri"/>
                <a:cs typeface="Calibri"/>
              </a:rPr>
              <a:t>Linear </a:t>
            </a:r>
            <a:r>
              <a:rPr lang="en-US" sz="1000" dirty="0" err="1">
                <a:solidFill>
                  <a:schemeClr val="accent5">
                    <a:lumMod val="50000"/>
                  </a:schemeClr>
                </a:solidFill>
                <a:ea typeface="Calibri"/>
                <a:cs typeface="Calibri"/>
              </a:rPr>
              <a:t>lr</a:t>
            </a:r>
            <a:r>
              <a:rPr lang="en-US" sz="1000" dirty="0">
                <a:solidFill>
                  <a:schemeClr val="accent5">
                    <a:lumMod val="50000"/>
                  </a:schemeClr>
                </a:solidFill>
                <a:ea typeface="Calibri"/>
                <a:cs typeface="Calibri"/>
              </a:rPr>
              <a:t>: 0.01</a:t>
            </a:r>
          </a:p>
        </p:txBody>
      </p:sp>
      <p:sp>
        <p:nvSpPr>
          <p:cNvPr id="36" name="Text 31"/>
          <p:cNvSpPr/>
          <p:nvPr/>
        </p:nvSpPr>
        <p:spPr>
          <a:xfrm>
            <a:off x="4718304" y="3694176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chemeClr val="accent5">
                    <a:lumMod val="50000"/>
                  </a:schemeClr>
                </a:solidFill>
              </a:rPr>
              <a:t>MuSGD</a:t>
            </a:r>
            <a:r>
              <a:rPr lang="en-US" sz="1000" dirty="0">
                <a:solidFill>
                  <a:schemeClr val="accent5">
                    <a:lumMod val="50000"/>
                  </a:schemeClr>
                </a:solidFill>
              </a:rPr>
              <a:t> momentum 0.937</a:t>
            </a:r>
          </a:p>
        </p:txBody>
      </p:sp>
      <p:sp>
        <p:nvSpPr>
          <p:cNvPr id="37" name="Text 32"/>
          <p:cNvSpPr/>
          <p:nvPr/>
        </p:nvSpPr>
        <p:spPr>
          <a:xfrm>
            <a:off x="6656832" y="192024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38" name="Shape 33"/>
          <p:cNvSpPr/>
          <p:nvPr/>
        </p:nvSpPr>
        <p:spPr>
          <a:xfrm>
            <a:off x="6839712" y="932688"/>
            <a:ext cx="2029968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9" name="Shape 34"/>
          <p:cNvSpPr/>
          <p:nvPr/>
        </p:nvSpPr>
        <p:spPr>
          <a:xfrm>
            <a:off x="6839712" y="931164"/>
            <a:ext cx="2029968" cy="7498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6839712" y="950976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" dirty="0">
              <a:solidFill>
                <a:schemeClr val="bg1"/>
              </a:solidFill>
            </a:endParaRPr>
          </a:p>
        </p:txBody>
      </p:sp>
      <p:pic>
        <p:nvPicPr>
          <p:cNvPr id="41" name="Image 3" descr="preencoded.png"/>
          <p:cNvPicPr>
            <a:picLocks noChangeAspect="1"/>
          </p:cNvPicPr>
          <p:nvPr/>
        </p:nvPicPr>
        <p:blipFill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333232" y="1001268"/>
            <a:ext cx="445008" cy="445008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6839712" y="1682496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93B"/>
                </a:solidFill>
              </a:rPr>
              <a:t>Model Training</a:t>
            </a:r>
            <a:endParaRPr lang="en-US" sz="1250" dirty="0"/>
          </a:p>
        </p:txBody>
      </p:sp>
      <p:sp>
        <p:nvSpPr>
          <p:cNvPr id="43" name="Text 37"/>
          <p:cNvSpPr/>
          <p:nvPr/>
        </p:nvSpPr>
        <p:spPr>
          <a:xfrm>
            <a:off x="6931152" y="2157984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</a:rPr>
              <a:t>  </a:t>
            </a:r>
            <a:r>
              <a:rPr lang="en-US" sz="1000" dirty="0">
                <a:solidFill>
                  <a:srgbClr val="4A5568"/>
                </a:solidFill>
              </a:rPr>
              <a:t>COCO pretrained init</a:t>
            </a:r>
            <a:endParaRPr lang="en-US" sz="1000" dirty="0"/>
          </a:p>
        </p:txBody>
      </p:sp>
      <p:sp>
        <p:nvSpPr>
          <p:cNvPr id="44" name="Text 38"/>
          <p:cNvSpPr/>
          <p:nvPr/>
        </p:nvSpPr>
        <p:spPr>
          <a:xfrm>
            <a:off x="6931152" y="2542032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chemeClr val="tx2"/>
                </a:solidFill>
              </a:rPr>
              <a:t>736x736</a:t>
            </a:r>
            <a:r>
              <a:rPr lang="en-US" sz="1000" dirty="0"/>
              <a:t> </a:t>
            </a:r>
            <a:r>
              <a:rPr lang="en-US" sz="1000" dirty="0" err="1">
                <a:solidFill>
                  <a:srgbClr val="4A5568"/>
                </a:solidFill>
              </a:rPr>
              <a:t>px</a:t>
            </a:r>
            <a:r>
              <a:rPr lang="en-US" sz="1000" dirty="0">
                <a:solidFill>
                  <a:srgbClr val="4A5568"/>
                </a:solidFill>
              </a:rPr>
              <a:t> input</a:t>
            </a:r>
            <a:endParaRPr lang="en-US" sz="1000" dirty="0"/>
          </a:p>
        </p:txBody>
      </p:sp>
      <p:sp>
        <p:nvSpPr>
          <p:cNvPr id="45" name="Text 39"/>
          <p:cNvSpPr/>
          <p:nvPr/>
        </p:nvSpPr>
        <p:spPr>
          <a:xfrm>
            <a:off x="6931152" y="292608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</a:rPr>
              <a:t>  </a:t>
            </a:r>
            <a:r>
              <a:rPr lang="en-US" sz="1000" dirty="0">
                <a:solidFill>
                  <a:srgbClr val="4A5568"/>
                </a:solidFill>
              </a:rPr>
              <a:t>CIoU + DFL loss</a:t>
            </a:r>
            <a:endParaRPr lang="en-US" sz="1000" dirty="0"/>
          </a:p>
        </p:txBody>
      </p:sp>
      <p:sp>
        <p:nvSpPr>
          <p:cNvPr id="46" name="Text 40"/>
          <p:cNvSpPr/>
          <p:nvPr/>
        </p:nvSpPr>
        <p:spPr>
          <a:xfrm>
            <a:off x="6931152" y="3310128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16A34A"/>
                </a:solidFill>
              </a:rPr>
              <a:t>  </a:t>
            </a:r>
            <a:r>
              <a:rPr lang="en-US" sz="1000" dirty="0">
                <a:solidFill>
                  <a:srgbClr val="4A5568"/>
                </a:solidFill>
              </a:rPr>
              <a:t>Train on google-</a:t>
            </a:r>
            <a:r>
              <a:rPr lang="en-US" sz="1000" dirty="0" err="1">
                <a:solidFill>
                  <a:srgbClr val="4A5568"/>
                </a:solidFill>
              </a:rPr>
              <a:t>colab</a:t>
            </a:r>
            <a:r>
              <a:rPr lang="en-US" sz="1000" dirty="0">
                <a:solidFill>
                  <a:srgbClr val="4A5568"/>
                </a:solidFill>
              </a:rPr>
              <a:t> t4 GPU</a:t>
            </a:r>
            <a:endParaRPr lang="en-US" sz="1000" dirty="0"/>
          </a:p>
        </p:txBody>
      </p:sp>
      <p:sp>
        <p:nvSpPr>
          <p:cNvPr id="47" name="Text 41"/>
          <p:cNvSpPr/>
          <p:nvPr/>
        </p:nvSpPr>
        <p:spPr>
          <a:xfrm>
            <a:off x="6931152" y="3694176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</a:rPr>
              <a:t>  </a:t>
            </a:r>
            <a:r>
              <a:rPr lang="en-US" sz="1000" dirty="0">
                <a:solidFill>
                  <a:srgbClr val="4A5568"/>
                </a:solidFill>
              </a:rPr>
              <a:t>45 epochs converge</a:t>
            </a:r>
            <a:endParaRPr lang="en-US" sz="1000" dirty="0"/>
          </a:p>
        </p:txBody>
      </p:sp>
      <p:sp>
        <p:nvSpPr>
          <p:cNvPr id="48" name="Shape 14">
            <a:extLst>
              <a:ext uri="{FF2B5EF4-FFF2-40B4-BE49-F238E27FC236}">
                <a16:creationId xmlns:a16="http://schemas.microsoft.com/office/drawing/2014/main" id="{45D457CD-DFEE-363E-4E33-AD417E43FA81}"/>
              </a:ext>
            </a:extLst>
          </p:cNvPr>
          <p:cNvSpPr/>
          <p:nvPr/>
        </p:nvSpPr>
        <p:spPr>
          <a:xfrm>
            <a:off x="2496312" y="947928"/>
            <a:ext cx="2029968" cy="749808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solidFill>
              <a:schemeClr val="accent2">
                <a:lumMod val="75000"/>
              </a:schemeClr>
            </a:solidFill>
            <a:prstDash val="solid"/>
          </a:ln>
        </p:spPr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D858DAB-CD0D-AAD0-789A-D4B5BE908DA3}"/>
              </a:ext>
            </a:extLst>
          </p:cNvPr>
          <p:cNvSpPr txBox="1"/>
          <p:nvPr/>
        </p:nvSpPr>
        <p:spPr>
          <a:xfrm>
            <a:off x="256032" y="917852"/>
            <a:ext cx="7543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chemeClr val="bg1"/>
                </a:solidFill>
                <a:latin typeface="Arial Black" panose="020B0A04020102020204" pitchFamily="34" charset="0"/>
              </a:rPr>
              <a:t>01</a:t>
            </a:r>
          </a:p>
        </p:txBody>
      </p:sp>
      <p:pic>
        <p:nvPicPr>
          <p:cNvPr id="51" name="Image 0" descr="preencoded.png">
            <a:extLst>
              <a:ext uri="{FF2B5EF4-FFF2-40B4-BE49-F238E27FC236}">
                <a16:creationId xmlns:a16="http://schemas.microsoft.com/office/drawing/2014/main" id="{08445E86-6AD4-AA7D-1A6D-9705D3705983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802892" y="978408"/>
            <a:ext cx="457200" cy="457200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063B844F-8708-12FF-B2D5-57AE20B79092}"/>
              </a:ext>
            </a:extLst>
          </p:cNvPr>
          <p:cNvSpPr txBox="1"/>
          <p:nvPr/>
        </p:nvSpPr>
        <p:spPr>
          <a:xfrm>
            <a:off x="2497836" y="955191"/>
            <a:ext cx="92964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Arial Black" panose="020B0A04020102020204" pitchFamily="34" charset="0"/>
              </a:rPr>
              <a:t>02</a:t>
            </a: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8679AA37-90D8-6919-7C0F-7C0FB310C94C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972665" y="975360"/>
            <a:ext cx="489607" cy="48021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Methodology  —  Model Hypertuning Details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01168" y="896112"/>
            <a:ext cx="4114800" cy="4096512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891540"/>
            <a:ext cx="4114800" cy="457200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8368" y="89611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Training Hyperparameters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-1399032" y="-493776"/>
            <a:ext cx="4114800" cy="393192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bg2">
                <a:lumMod val="90000"/>
              </a:scheme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146304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2060"/>
                </a:solidFill>
              </a:rPr>
              <a:t>Model</a:t>
            </a:r>
          </a:p>
        </p:txBody>
      </p:sp>
      <p:sp>
        <p:nvSpPr>
          <p:cNvPr id="11" name="Text 8"/>
          <p:cNvSpPr/>
          <p:nvPr/>
        </p:nvSpPr>
        <p:spPr>
          <a:xfrm>
            <a:off x="1783080" y="14630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2060"/>
                </a:solidFill>
              </a:rPr>
              <a:t>YOLOv8s  (11.1M params)</a:t>
            </a:r>
            <a:endParaRPr lang="en-US" sz="1050" dirty="0">
              <a:solidFill>
                <a:srgbClr val="002060"/>
              </a:solidFill>
            </a:endParaRPr>
          </a:p>
        </p:txBody>
      </p:sp>
      <p:sp>
        <p:nvSpPr>
          <p:cNvPr id="12" name="Shape 9"/>
          <p:cNvSpPr/>
          <p:nvPr/>
        </p:nvSpPr>
        <p:spPr>
          <a:xfrm>
            <a:off x="201168" y="1819656"/>
            <a:ext cx="4114800" cy="393192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0040" y="185623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2060"/>
                </a:solidFill>
              </a:rPr>
              <a:t>Epochs</a:t>
            </a:r>
          </a:p>
        </p:txBody>
      </p:sp>
      <p:sp>
        <p:nvSpPr>
          <p:cNvPr id="14" name="Text 11"/>
          <p:cNvSpPr/>
          <p:nvPr/>
        </p:nvSpPr>
        <p:spPr>
          <a:xfrm>
            <a:off x="1783080" y="18562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2060"/>
                </a:solidFill>
              </a:rPr>
              <a:t>45</a:t>
            </a:r>
            <a:endParaRPr lang="en-US" sz="1050" dirty="0">
              <a:solidFill>
                <a:srgbClr val="002060"/>
              </a:solidFill>
            </a:endParaRPr>
          </a:p>
        </p:txBody>
      </p:sp>
      <p:sp>
        <p:nvSpPr>
          <p:cNvPr id="15" name="Shape 12"/>
          <p:cNvSpPr/>
          <p:nvPr/>
        </p:nvSpPr>
        <p:spPr>
          <a:xfrm>
            <a:off x="201168" y="2212848"/>
            <a:ext cx="4114800" cy="3931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20040" y="224942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2060"/>
                </a:solidFill>
              </a:rPr>
              <a:t>Input Size</a:t>
            </a:r>
          </a:p>
        </p:txBody>
      </p:sp>
      <p:sp>
        <p:nvSpPr>
          <p:cNvPr id="17" name="Text 14"/>
          <p:cNvSpPr/>
          <p:nvPr/>
        </p:nvSpPr>
        <p:spPr>
          <a:xfrm>
            <a:off x="1783080" y="224942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2060"/>
                </a:solidFill>
              </a:rPr>
              <a:t>736x736px</a:t>
            </a:r>
            <a:endParaRPr lang="en-US" sz="1050" dirty="0">
              <a:solidFill>
                <a:srgbClr val="002060"/>
              </a:solidFill>
            </a:endParaRPr>
          </a:p>
        </p:txBody>
      </p:sp>
      <p:sp>
        <p:nvSpPr>
          <p:cNvPr id="18" name="Shape 15"/>
          <p:cNvSpPr/>
          <p:nvPr/>
        </p:nvSpPr>
        <p:spPr>
          <a:xfrm>
            <a:off x="201168" y="2606040"/>
            <a:ext cx="4114800" cy="393192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20040" y="264261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2060"/>
                </a:solidFill>
              </a:rPr>
              <a:t>Optimizer</a:t>
            </a:r>
          </a:p>
        </p:txBody>
      </p:sp>
      <p:sp>
        <p:nvSpPr>
          <p:cNvPr id="20" name="Text 17"/>
          <p:cNvSpPr/>
          <p:nvPr/>
        </p:nvSpPr>
        <p:spPr>
          <a:xfrm>
            <a:off x="1783080" y="264261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 err="1">
                <a:solidFill>
                  <a:srgbClr val="002060"/>
                </a:solidFill>
              </a:rPr>
              <a:t>MuSGD</a:t>
            </a:r>
            <a:r>
              <a:rPr lang="en-US" sz="1050" b="1" dirty="0">
                <a:solidFill>
                  <a:srgbClr val="002060"/>
                </a:solidFill>
              </a:rPr>
              <a:t>  (momentum = 0.937)</a:t>
            </a:r>
            <a:endParaRPr lang="en-US" sz="1050" dirty="0">
              <a:solidFill>
                <a:srgbClr val="002060"/>
              </a:solidFill>
            </a:endParaRPr>
          </a:p>
        </p:txBody>
      </p:sp>
      <p:sp>
        <p:nvSpPr>
          <p:cNvPr id="21" name="Shape 18"/>
          <p:cNvSpPr/>
          <p:nvPr/>
        </p:nvSpPr>
        <p:spPr>
          <a:xfrm>
            <a:off x="201168" y="2999232"/>
            <a:ext cx="4114800" cy="3931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320040" y="303580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2060"/>
                </a:solidFill>
              </a:rPr>
              <a:t>Learning Rate</a:t>
            </a:r>
          </a:p>
        </p:txBody>
      </p:sp>
      <p:sp>
        <p:nvSpPr>
          <p:cNvPr id="23" name="Text 20"/>
          <p:cNvSpPr/>
          <p:nvPr/>
        </p:nvSpPr>
        <p:spPr>
          <a:xfrm>
            <a:off x="1783080" y="30358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2060"/>
                </a:solidFill>
              </a:rPr>
              <a:t>0.01 → 0.0001  (cosine)</a:t>
            </a:r>
            <a:endParaRPr lang="en-US" sz="1050" dirty="0">
              <a:solidFill>
                <a:srgbClr val="002060"/>
              </a:solidFill>
            </a:endParaRPr>
          </a:p>
        </p:txBody>
      </p:sp>
      <p:sp>
        <p:nvSpPr>
          <p:cNvPr id="24" name="Shape 21"/>
          <p:cNvSpPr/>
          <p:nvPr/>
        </p:nvSpPr>
        <p:spPr>
          <a:xfrm>
            <a:off x="201168" y="3392424"/>
            <a:ext cx="4114800" cy="393192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20040" y="34290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2060"/>
                </a:solidFill>
              </a:rPr>
              <a:t>Batch Size</a:t>
            </a:r>
          </a:p>
        </p:txBody>
      </p:sp>
      <p:sp>
        <p:nvSpPr>
          <p:cNvPr id="26" name="Text 23"/>
          <p:cNvSpPr/>
          <p:nvPr/>
        </p:nvSpPr>
        <p:spPr>
          <a:xfrm>
            <a:off x="1783080" y="34290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2060"/>
                </a:solidFill>
                <a:ea typeface="Calibri"/>
                <a:cs typeface="Calibri"/>
              </a:rPr>
              <a:t>32</a:t>
            </a:r>
          </a:p>
        </p:txBody>
      </p:sp>
      <p:sp>
        <p:nvSpPr>
          <p:cNvPr id="27" name="Shape 24"/>
          <p:cNvSpPr/>
          <p:nvPr/>
        </p:nvSpPr>
        <p:spPr>
          <a:xfrm>
            <a:off x="201168" y="3785616"/>
            <a:ext cx="4114800" cy="3931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320040" y="382219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2060"/>
                </a:solidFill>
              </a:rPr>
              <a:t>Weight Decay</a:t>
            </a:r>
          </a:p>
        </p:txBody>
      </p:sp>
      <p:sp>
        <p:nvSpPr>
          <p:cNvPr id="29" name="Text 26"/>
          <p:cNvSpPr/>
          <p:nvPr/>
        </p:nvSpPr>
        <p:spPr>
          <a:xfrm>
            <a:off x="1783080" y="38221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2060"/>
                </a:solidFill>
              </a:rPr>
              <a:t>0.0005</a:t>
            </a:r>
            <a:endParaRPr lang="en-US" sz="1050" dirty="0">
              <a:solidFill>
                <a:srgbClr val="002060"/>
              </a:solidFill>
            </a:endParaRPr>
          </a:p>
        </p:txBody>
      </p:sp>
      <p:sp>
        <p:nvSpPr>
          <p:cNvPr id="30" name="Shape 27"/>
          <p:cNvSpPr/>
          <p:nvPr/>
        </p:nvSpPr>
        <p:spPr>
          <a:xfrm>
            <a:off x="201168" y="4178808"/>
            <a:ext cx="4114800" cy="393192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20040" y="421538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2060"/>
                </a:solidFill>
              </a:rPr>
              <a:t>Pre-training</a:t>
            </a:r>
          </a:p>
        </p:txBody>
      </p:sp>
      <p:sp>
        <p:nvSpPr>
          <p:cNvPr id="32" name="Text 29"/>
          <p:cNvSpPr/>
          <p:nvPr/>
        </p:nvSpPr>
        <p:spPr>
          <a:xfrm>
            <a:off x="1783080" y="421538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2060"/>
                </a:solidFill>
              </a:rPr>
              <a:t>MS-COCO weights</a:t>
            </a:r>
            <a:endParaRPr lang="en-US" sz="1050" dirty="0">
              <a:solidFill>
                <a:srgbClr val="002060"/>
              </a:solidFill>
            </a:endParaRPr>
          </a:p>
        </p:txBody>
      </p:sp>
      <p:sp>
        <p:nvSpPr>
          <p:cNvPr id="33" name="Shape 30"/>
          <p:cNvSpPr/>
          <p:nvPr/>
        </p:nvSpPr>
        <p:spPr>
          <a:xfrm>
            <a:off x="201168" y="4572000"/>
            <a:ext cx="4114800" cy="3931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20040" y="460857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2060"/>
                </a:solidFill>
              </a:rPr>
              <a:t>Augmentation</a:t>
            </a:r>
          </a:p>
        </p:txBody>
      </p:sp>
      <p:sp>
        <p:nvSpPr>
          <p:cNvPr id="35" name="Text 32"/>
          <p:cNvSpPr/>
          <p:nvPr/>
        </p:nvSpPr>
        <p:spPr>
          <a:xfrm>
            <a:off x="1783080" y="460857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2060"/>
                </a:solidFill>
              </a:rPr>
              <a:t>Mosaic, H-flip, HSV, Scale</a:t>
            </a:r>
            <a:endParaRPr lang="en-US" sz="1050" dirty="0">
              <a:solidFill>
                <a:srgbClr val="002060"/>
              </a:solidFill>
            </a:endParaRPr>
          </a:p>
        </p:txBody>
      </p:sp>
      <p:sp>
        <p:nvSpPr>
          <p:cNvPr id="36" name="Shape 33"/>
          <p:cNvSpPr/>
          <p:nvPr/>
        </p:nvSpPr>
        <p:spPr>
          <a:xfrm>
            <a:off x="4572000" y="896112"/>
            <a:ext cx="4343400" cy="2075688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4562856" y="891540"/>
            <a:ext cx="4352544" cy="4572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572000" y="896112"/>
            <a:ext cx="4343400" cy="457200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60"/>
                </a:solidFill>
              </a:rPr>
              <a:t>YOLOv8n  vs  YOLOv8s — Why YOLOv8s?</a:t>
            </a:r>
            <a:endParaRPr lang="en-US" sz="1300" dirty="0">
              <a:solidFill>
                <a:srgbClr val="002060"/>
              </a:solidFill>
            </a:endParaRPr>
          </a:p>
        </p:txBody>
      </p:sp>
      <p:sp>
        <p:nvSpPr>
          <p:cNvPr id="39" name="Shape 36"/>
          <p:cNvSpPr/>
          <p:nvPr/>
        </p:nvSpPr>
        <p:spPr>
          <a:xfrm>
            <a:off x="4562856" y="1737360"/>
            <a:ext cx="4343400" cy="301752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rgbClr val="1A2C3E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645152" y="1453896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2060"/>
                </a:solidFill>
              </a:rPr>
              <a:t>Property</a:t>
            </a:r>
          </a:p>
        </p:txBody>
      </p:sp>
      <p:sp>
        <p:nvSpPr>
          <p:cNvPr id="41" name="Text 38"/>
          <p:cNvSpPr/>
          <p:nvPr/>
        </p:nvSpPr>
        <p:spPr>
          <a:xfrm>
            <a:off x="6291072" y="145389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6">
                    <a:lumMod val="75000"/>
                  </a:schemeClr>
                </a:solidFill>
              </a:rPr>
              <a:t>YOLOv8n</a:t>
            </a:r>
          </a:p>
        </p:txBody>
      </p:sp>
      <p:sp>
        <p:nvSpPr>
          <p:cNvPr id="42" name="Text 39"/>
          <p:cNvSpPr/>
          <p:nvPr/>
        </p:nvSpPr>
        <p:spPr>
          <a:xfrm>
            <a:off x="7516368" y="1453896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YOLOv8s</a:t>
            </a:r>
          </a:p>
        </p:txBody>
      </p:sp>
      <p:sp>
        <p:nvSpPr>
          <p:cNvPr id="43" name="Shape 40"/>
          <p:cNvSpPr/>
          <p:nvPr/>
        </p:nvSpPr>
        <p:spPr>
          <a:xfrm>
            <a:off x="4572000" y="1719072"/>
            <a:ext cx="4343400" cy="301752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4645152" y="1755648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2060"/>
                </a:solidFill>
              </a:rPr>
              <a:t>Parameters</a:t>
            </a:r>
          </a:p>
        </p:txBody>
      </p:sp>
      <p:sp>
        <p:nvSpPr>
          <p:cNvPr id="45" name="Text 42"/>
          <p:cNvSpPr/>
          <p:nvPr/>
        </p:nvSpPr>
        <p:spPr>
          <a:xfrm>
            <a:off x="6291072" y="175564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6">
                    <a:lumMod val="75000"/>
                  </a:schemeClr>
                </a:solidFill>
              </a:rPr>
              <a:t>3.2M</a:t>
            </a:r>
          </a:p>
        </p:txBody>
      </p:sp>
      <p:sp>
        <p:nvSpPr>
          <p:cNvPr id="46" name="Text 43"/>
          <p:cNvSpPr/>
          <p:nvPr/>
        </p:nvSpPr>
        <p:spPr>
          <a:xfrm>
            <a:off x="7516368" y="1755648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11.1M</a:t>
            </a:r>
          </a:p>
        </p:txBody>
      </p:sp>
      <p:sp>
        <p:nvSpPr>
          <p:cNvPr id="47" name="Shape 44"/>
          <p:cNvSpPr/>
          <p:nvPr/>
        </p:nvSpPr>
        <p:spPr>
          <a:xfrm>
            <a:off x="4572000" y="2020824"/>
            <a:ext cx="4343400" cy="30175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8" name="Text 45"/>
          <p:cNvSpPr/>
          <p:nvPr/>
        </p:nvSpPr>
        <p:spPr>
          <a:xfrm>
            <a:off x="4645152" y="2057400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2060"/>
                </a:solidFill>
              </a:rPr>
              <a:t>GFLOPs</a:t>
            </a:r>
          </a:p>
        </p:txBody>
      </p:sp>
      <p:sp>
        <p:nvSpPr>
          <p:cNvPr id="49" name="Text 46"/>
          <p:cNvSpPr/>
          <p:nvPr/>
        </p:nvSpPr>
        <p:spPr>
          <a:xfrm>
            <a:off x="6291072" y="205740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6">
                    <a:lumMod val="75000"/>
                  </a:schemeClr>
                </a:solidFill>
              </a:rPr>
              <a:t>8.7</a:t>
            </a:r>
          </a:p>
        </p:txBody>
      </p:sp>
      <p:sp>
        <p:nvSpPr>
          <p:cNvPr id="50" name="Text 47"/>
          <p:cNvSpPr/>
          <p:nvPr/>
        </p:nvSpPr>
        <p:spPr>
          <a:xfrm>
            <a:off x="7516368" y="2057400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28.6</a:t>
            </a:r>
          </a:p>
        </p:txBody>
      </p:sp>
      <p:sp>
        <p:nvSpPr>
          <p:cNvPr id="51" name="Shape 48"/>
          <p:cNvSpPr/>
          <p:nvPr/>
        </p:nvSpPr>
        <p:spPr>
          <a:xfrm>
            <a:off x="4562856" y="2340864"/>
            <a:ext cx="4343400" cy="301752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2" name="Text 49"/>
          <p:cNvSpPr/>
          <p:nvPr/>
        </p:nvSpPr>
        <p:spPr>
          <a:xfrm>
            <a:off x="4645152" y="235915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2060"/>
                </a:solidFill>
              </a:rPr>
              <a:t>mAP50 (COCO)</a:t>
            </a:r>
          </a:p>
        </p:txBody>
      </p:sp>
      <p:sp>
        <p:nvSpPr>
          <p:cNvPr id="53" name="Text 50"/>
          <p:cNvSpPr/>
          <p:nvPr/>
        </p:nvSpPr>
        <p:spPr>
          <a:xfrm>
            <a:off x="6291072" y="235915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6">
                    <a:lumMod val="75000"/>
                  </a:schemeClr>
                </a:solidFill>
              </a:rPr>
              <a:t>37.3%</a:t>
            </a:r>
          </a:p>
        </p:txBody>
      </p:sp>
      <p:sp>
        <p:nvSpPr>
          <p:cNvPr id="54" name="Text 51"/>
          <p:cNvSpPr/>
          <p:nvPr/>
        </p:nvSpPr>
        <p:spPr>
          <a:xfrm>
            <a:off x="7516368" y="2359152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44.9%</a:t>
            </a:r>
          </a:p>
        </p:txBody>
      </p:sp>
      <p:sp>
        <p:nvSpPr>
          <p:cNvPr id="55" name="Shape 52"/>
          <p:cNvSpPr/>
          <p:nvPr/>
        </p:nvSpPr>
        <p:spPr>
          <a:xfrm>
            <a:off x="4562856" y="2670048"/>
            <a:ext cx="4343400" cy="30175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6" name="Text 53"/>
          <p:cNvSpPr/>
          <p:nvPr/>
        </p:nvSpPr>
        <p:spPr>
          <a:xfrm>
            <a:off x="4645152" y="2660904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2060"/>
                </a:solidFill>
              </a:rPr>
              <a:t>Inference (GPU)</a:t>
            </a:r>
          </a:p>
        </p:txBody>
      </p:sp>
      <p:sp>
        <p:nvSpPr>
          <p:cNvPr id="57" name="Text 54"/>
          <p:cNvSpPr/>
          <p:nvPr/>
        </p:nvSpPr>
        <p:spPr>
          <a:xfrm>
            <a:off x="6291072" y="266090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6">
                    <a:lumMod val="75000"/>
                  </a:schemeClr>
                </a:solidFill>
              </a:rPr>
              <a:t>1.5ms</a:t>
            </a:r>
          </a:p>
        </p:txBody>
      </p:sp>
      <p:sp>
        <p:nvSpPr>
          <p:cNvPr id="58" name="Text 55"/>
          <p:cNvSpPr/>
          <p:nvPr/>
        </p:nvSpPr>
        <p:spPr>
          <a:xfrm>
            <a:off x="7516368" y="266090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2.2ms</a:t>
            </a:r>
          </a:p>
        </p:txBody>
      </p:sp>
      <p:sp>
        <p:nvSpPr>
          <p:cNvPr id="59" name="Shape 56"/>
          <p:cNvSpPr/>
          <p:nvPr/>
        </p:nvSpPr>
        <p:spPr>
          <a:xfrm>
            <a:off x="4572000" y="3090672"/>
            <a:ext cx="4343400" cy="1901952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4572000" y="3090672"/>
            <a:ext cx="4343400" cy="438912"/>
          </a:xfrm>
          <a:prstGeom prst="rect">
            <a:avLst/>
          </a:prstGeom>
          <a:solidFill>
            <a:srgbClr val="9933FF"/>
          </a:solidFill>
          <a:ln w="12700">
            <a:solidFill>
              <a:srgbClr val="9933FF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4572000" y="3090672"/>
            <a:ext cx="4343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60"/>
                </a:solidFill>
              </a:rPr>
              <a:t>Composite Loss Function</a:t>
            </a:r>
            <a:endParaRPr lang="en-US" sz="1300" dirty="0">
              <a:solidFill>
                <a:srgbClr val="002060"/>
              </a:solidFill>
            </a:endParaRPr>
          </a:p>
        </p:txBody>
      </p:sp>
      <p:sp>
        <p:nvSpPr>
          <p:cNvPr id="62" name="Text 59"/>
          <p:cNvSpPr/>
          <p:nvPr/>
        </p:nvSpPr>
        <p:spPr>
          <a:xfrm>
            <a:off x="4681728" y="362102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</a:rPr>
              <a:t>L = L_cls  +  λ₁·L_box  +  λ₂·L_dfl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64" name="Text 61"/>
          <p:cNvSpPr/>
          <p:nvPr/>
        </p:nvSpPr>
        <p:spPr>
          <a:xfrm>
            <a:off x="4663440" y="4055364"/>
            <a:ext cx="548640" cy="237744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L_cls</a:t>
            </a:r>
            <a:endParaRPr lang="en-US" sz="900" dirty="0"/>
          </a:p>
        </p:txBody>
      </p:sp>
      <p:sp>
        <p:nvSpPr>
          <p:cNvPr id="65" name="Text 62"/>
          <p:cNvSpPr/>
          <p:nvPr/>
        </p:nvSpPr>
        <p:spPr>
          <a:xfrm>
            <a:off x="5285232" y="405993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2060"/>
                </a:solidFill>
              </a:rPr>
              <a:t>Binary cross-entropy for fire/smoke classification</a:t>
            </a:r>
          </a:p>
        </p:txBody>
      </p:sp>
      <p:sp>
        <p:nvSpPr>
          <p:cNvPr id="66" name="Shape 63"/>
          <p:cNvSpPr/>
          <p:nvPr/>
        </p:nvSpPr>
        <p:spPr>
          <a:xfrm>
            <a:off x="4663440" y="4365583"/>
            <a:ext cx="548640" cy="237744"/>
          </a:xfrm>
          <a:prstGeom prst="rect">
            <a:avLst/>
          </a:prstGeom>
          <a:solidFill>
            <a:srgbClr val="002060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4663440" y="4352544"/>
            <a:ext cx="548640" cy="23774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L_box</a:t>
            </a:r>
            <a:endParaRPr lang="en-US" sz="900" dirty="0"/>
          </a:p>
        </p:txBody>
      </p:sp>
      <p:sp>
        <p:nvSpPr>
          <p:cNvPr id="68" name="Text 65"/>
          <p:cNvSpPr/>
          <p:nvPr/>
        </p:nvSpPr>
        <p:spPr>
          <a:xfrm>
            <a:off x="5285232" y="435254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2060"/>
                </a:solidFill>
              </a:rPr>
              <a:t>CIoU regression — penalises overlap + centre distance</a:t>
            </a:r>
          </a:p>
        </p:txBody>
      </p:sp>
      <p:sp>
        <p:nvSpPr>
          <p:cNvPr id="69" name="Shape 66"/>
          <p:cNvSpPr/>
          <p:nvPr/>
        </p:nvSpPr>
        <p:spPr>
          <a:xfrm>
            <a:off x="4663440" y="4645152"/>
            <a:ext cx="548640" cy="237744"/>
          </a:xfrm>
          <a:prstGeom prst="rect">
            <a:avLst/>
          </a:prstGeom>
          <a:solidFill>
            <a:srgbClr val="002060"/>
          </a:solidFill>
          <a:ln w="12700">
            <a:solidFill>
              <a:schemeClr val="bg1">
                <a:lumMod val="95000"/>
              </a:schemeClr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4663440" y="464515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L_dfl</a:t>
            </a:r>
            <a:endParaRPr lang="en-US" sz="900" dirty="0"/>
          </a:p>
        </p:txBody>
      </p:sp>
      <p:sp>
        <p:nvSpPr>
          <p:cNvPr id="71" name="Text 68"/>
          <p:cNvSpPr/>
          <p:nvPr/>
        </p:nvSpPr>
        <p:spPr>
          <a:xfrm>
            <a:off x="5285232" y="464515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2060"/>
                </a:solidFill>
              </a:rPr>
              <a:t>Distribution Focal Loss for precise box boundary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A9B983E9-266B-EB54-46CA-44F44B186A0B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7CBB8927-4B2A-0387-315A-F32CB3D45CBB}"/>
              </a:ext>
            </a:extLst>
          </p:cNvPr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3C155AA2-0A7B-E685-B78C-A1A93A3E9188}"/>
              </a:ext>
            </a:extLst>
          </p:cNvPr>
          <p:cNvSpPr/>
          <p:nvPr/>
        </p:nvSpPr>
        <p:spPr>
          <a:xfrm>
            <a:off x="292608" y="0"/>
            <a:ext cx="8729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FFFFFF"/>
                </a:solidFill>
              </a:rPr>
              <a:t>Model Metrics  —  YOLOv8s  (Small/Our Primary Model)</a:t>
            </a:r>
            <a:endParaRPr lang="en-US" sz="2400" dirty="0"/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E09060B9-7ABF-1B5E-C84D-77B799AB0FF2}"/>
              </a:ext>
            </a:extLst>
          </p:cNvPr>
          <p:cNvSpPr/>
          <p:nvPr/>
        </p:nvSpPr>
        <p:spPr>
          <a:xfrm>
            <a:off x="7010400" y="33528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14" name="Shape 5">
            <a:extLst>
              <a:ext uri="{FF2B5EF4-FFF2-40B4-BE49-F238E27FC236}">
                <a16:creationId xmlns:a16="http://schemas.microsoft.com/office/drawing/2014/main" id="{D27125F7-0419-FC86-72D2-C85A972EA7BF}"/>
              </a:ext>
            </a:extLst>
          </p:cNvPr>
          <p:cNvSpPr/>
          <p:nvPr/>
        </p:nvSpPr>
        <p:spPr>
          <a:xfrm>
            <a:off x="368808" y="1312164"/>
            <a:ext cx="2029968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EA5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6">
            <a:extLst>
              <a:ext uri="{FF2B5EF4-FFF2-40B4-BE49-F238E27FC236}">
                <a16:creationId xmlns:a16="http://schemas.microsoft.com/office/drawing/2014/main" id="{D7D554AB-FECA-3EBA-BC1E-E52F6B89EBA8}"/>
              </a:ext>
            </a:extLst>
          </p:cNvPr>
          <p:cNvSpPr/>
          <p:nvPr/>
        </p:nvSpPr>
        <p:spPr>
          <a:xfrm>
            <a:off x="368808" y="1312164"/>
            <a:ext cx="2029968" cy="91440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CC1409BF-FF70-4634-FB58-223431E16051}"/>
              </a:ext>
            </a:extLst>
          </p:cNvPr>
          <p:cNvSpPr/>
          <p:nvPr/>
        </p:nvSpPr>
        <p:spPr>
          <a:xfrm>
            <a:off x="368808" y="1403604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EA5A0"/>
                </a:solidFill>
              </a:rPr>
              <a:t>81.8%</a:t>
            </a:r>
            <a:endParaRPr lang="en-US" sz="3000" dirty="0">
              <a:solidFill>
                <a:srgbClr val="0EA5A0"/>
              </a:solidFill>
            </a:endParaRPr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8614140E-E9C4-E693-49D2-31A1F730D3C1}"/>
              </a:ext>
            </a:extLst>
          </p:cNvPr>
          <p:cNvSpPr/>
          <p:nvPr/>
        </p:nvSpPr>
        <p:spPr>
          <a:xfrm>
            <a:off x="368808" y="1970532"/>
            <a:ext cx="2029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EA5A0"/>
                </a:solidFill>
              </a:rPr>
              <a:t>mAP@0.5</a:t>
            </a:r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23DB82E1-B8A9-3E9B-4386-6438C324BB7D}"/>
              </a:ext>
            </a:extLst>
          </p:cNvPr>
          <p:cNvSpPr/>
          <p:nvPr/>
        </p:nvSpPr>
        <p:spPr>
          <a:xfrm>
            <a:off x="368808" y="2189988"/>
            <a:ext cx="2029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EA5A0"/>
                </a:solidFill>
              </a:rPr>
              <a:t>All classes</a:t>
            </a:r>
            <a:endParaRPr lang="en-US" sz="900" dirty="0">
              <a:solidFill>
                <a:srgbClr val="0EA5A0"/>
              </a:solidFill>
            </a:endParaRPr>
          </a:p>
        </p:txBody>
      </p:sp>
      <p:sp>
        <p:nvSpPr>
          <p:cNvPr id="24" name="Shape 10">
            <a:extLst>
              <a:ext uri="{FF2B5EF4-FFF2-40B4-BE49-F238E27FC236}">
                <a16:creationId xmlns:a16="http://schemas.microsoft.com/office/drawing/2014/main" id="{397642C4-F4B8-0F11-6993-EF73BDFF22C9}"/>
              </a:ext>
            </a:extLst>
          </p:cNvPr>
          <p:cNvSpPr/>
          <p:nvPr/>
        </p:nvSpPr>
        <p:spPr>
          <a:xfrm>
            <a:off x="3201924" y="1312164"/>
            <a:ext cx="2029968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4631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11">
            <a:extLst>
              <a:ext uri="{FF2B5EF4-FFF2-40B4-BE49-F238E27FC236}">
                <a16:creationId xmlns:a16="http://schemas.microsoft.com/office/drawing/2014/main" id="{4BB7A93B-5A96-4574-E757-56FED3382705}"/>
              </a:ext>
            </a:extLst>
          </p:cNvPr>
          <p:cNvSpPr/>
          <p:nvPr/>
        </p:nvSpPr>
        <p:spPr>
          <a:xfrm>
            <a:off x="3201924" y="1312164"/>
            <a:ext cx="2029968" cy="9144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solidFill>
              <a:schemeClr val="accent2">
                <a:lumMod val="75000"/>
              </a:schemeClr>
            </a:solidFill>
            <a:prstDash val="solid"/>
          </a:ln>
        </p:spPr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71F04ECE-8D9A-6D09-1A85-F7AC7BD14F40}"/>
              </a:ext>
            </a:extLst>
          </p:cNvPr>
          <p:cNvSpPr/>
          <p:nvPr/>
        </p:nvSpPr>
        <p:spPr>
          <a:xfrm>
            <a:off x="3201924" y="1403604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accent2">
                    <a:lumMod val="75000"/>
                  </a:schemeClr>
                </a:solidFill>
              </a:rPr>
              <a:t>81.6%</a:t>
            </a:r>
            <a:endParaRPr lang="en-US" sz="3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0" name="Text 13">
            <a:extLst>
              <a:ext uri="{FF2B5EF4-FFF2-40B4-BE49-F238E27FC236}">
                <a16:creationId xmlns:a16="http://schemas.microsoft.com/office/drawing/2014/main" id="{4E586FD9-EA2A-D2F9-04E5-E62E7F931A26}"/>
              </a:ext>
            </a:extLst>
          </p:cNvPr>
          <p:cNvSpPr/>
          <p:nvPr/>
        </p:nvSpPr>
        <p:spPr>
          <a:xfrm>
            <a:off x="3201924" y="1970532"/>
            <a:ext cx="2029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2">
                    <a:lumMod val="75000"/>
                  </a:schemeClr>
                </a:solidFill>
              </a:rPr>
              <a:t>Precision</a:t>
            </a:r>
          </a:p>
        </p:txBody>
      </p:sp>
      <p:sp>
        <p:nvSpPr>
          <p:cNvPr id="32" name="Text 14">
            <a:extLst>
              <a:ext uri="{FF2B5EF4-FFF2-40B4-BE49-F238E27FC236}">
                <a16:creationId xmlns:a16="http://schemas.microsoft.com/office/drawing/2014/main" id="{1F92A777-AA14-0B79-D43D-FA5B1D0FC955}"/>
              </a:ext>
            </a:extLst>
          </p:cNvPr>
          <p:cNvSpPr/>
          <p:nvPr/>
        </p:nvSpPr>
        <p:spPr>
          <a:xfrm>
            <a:off x="3201924" y="2189988"/>
            <a:ext cx="2029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chemeClr val="accent2">
                    <a:lumMod val="75000"/>
                  </a:schemeClr>
                </a:solidFill>
              </a:rPr>
              <a:t>Fire+Smoke</a:t>
            </a:r>
            <a:endParaRPr lang="en-US" sz="9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4" name="Shape 15">
            <a:extLst>
              <a:ext uri="{FF2B5EF4-FFF2-40B4-BE49-F238E27FC236}">
                <a16:creationId xmlns:a16="http://schemas.microsoft.com/office/drawing/2014/main" id="{A162135A-4153-EB67-5B86-46F84B323566}"/>
              </a:ext>
            </a:extLst>
          </p:cNvPr>
          <p:cNvSpPr/>
          <p:nvPr/>
        </p:nvSpPr>
        <p:spPr>
          <a:xfrm>
            <a:off x="6035040" y="1303020"/>
            <a:ext cx="2029968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9933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6" name="Shape 16">
            <a:extLst>
              <a:ext uri="{FF2B5EF4-FFF2-40B4-BE49-F238E27FC236}">
                <a16:creationId xmlns:a16="http://schemas.microsoft.com/office/drawing/2014/main" id="{7EDFE522-5306-9424-7551-D4727D9DDAA2}"/>
              </a:ext>
            </a:extLst>
          </p:cNvPr>
          <p:cNvSpPr/>
          <p:nvPr/>
        </p:nvSpPr>
        <p:spPr>
          <a:xfrm>
            <a:off x="6035040" y="1303020"/>
            <a:ext cx="2029968" cy="91440"/>
          </a:xfrm>
          <a:prstGeom prst="rect">
            <a:avLst/>
          </a:prstGeom>
          <a:solidFill>
            <a:srgbClr val="9933FF"/>
          </a:solidFill>
          <a:ln w="12700">
            <a:solidFill>
              <a:srgbClr val="9933FF"/>
            </a:solidFill>
            <a:prstDash val="solid"/>
          </a:ln>
        </p:spPr>
      </p:sp>
      <p:sp>
        <p:nvSpPr>
          <p:cNvPr id="38" name="Text 17">
            <a:extLst>
              <a:ext uri="{FF2B5EF4-FFF2-40B4-BE49-F238E27FC236}">
                <a16:creationId xmlns:a16="http://schemas.microsoft.com/office/drawing/2014/main" id="{81A7B3A1-A2B9-AE1B-5A95-D9A47EFDA002}"/>
              </a:ext>
            </a:extLst>
          </p:cNvPr>
          <p:cNvSpPr/>
          <p:nvPr/>
        </p:nvSpPr>
        <p:spPr>
          <a:xfrm>
            <a:off x="6035040" y="1394460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7C3AED"/>
                </a:solidFill>
              </a:rPr>
              <a:t>74.8%</a:t>
            </a:r>
            <a:endParaRPr lang="en-US" sz="3000" dirty="0"/>
          </a:p>
        </p:txBody>
      </p:sp>
      <p:sp>
        <p:nvSpPr>
          <p:cNvPr id="40" name="Text 18">
            <a:extLst>
              <a:ext uri="{FF2B5EF4-FFF2-40B4-BE49-F238E27FC236}">
                <a16:creationId xmlns:a16="http://schemas.microsoft.com/office/drawing/2014/main" id="{BCE65E42-74A1-A067-5148-48712EDE627B}"/>
              </a:ext>
            </a:extLst>
          </p:cNvPr>
          <p:cNvSpPr/>
          <p:nvPr/>
        </p:nvSpPr>
        <p:spPr>
          <a:xfrm>
            <a:off x="6035040" y="1961388"/>
            <a:ext cx="2029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933FF"/>
                </a:solidFill>
              </a:rPr>
              <a:t>Recall</a:t>
            </a:r>
          </a:p>
        </p:txBody>
      </p:sp>
      <p:sp>
        <p:nvSpPr>
          <p:cNvPr id="42" name="Text 19">
            <a:extLst>
              <a:ext uri="{FF2B5EF4-FFF2-40B4-BE49-F238E27FC236}">
                <a16:creationId xmlns:a16="http://schemas.microsoft.com/office/drawing/2014/main" id="{9F30EFB7-2B85-D92B-9F5C-E743943AA52D}"/>
              </a:ext>
            </a:extLst>
          </p:cNvPr>
          <p:cNvSpPr/>
          <p:nvPr/>
        </p:nvSpPr>
        <p:spPr>
          <a:xfrm>
            <a:off x="6035040" y="2180844"/>
            <a:ext cx="2029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933FF"/>
                </a:solidFill>
              </a:rPr>
              <a:t>Fire+Smoke</a:t>
            </a:r>
            <a:endParaRPr lang="en-US" sz="900" dirty="0">
              <a:solidFill>
                <a:srgbClr val="9933FF"/>
              </a:solidFill>
            </a:endParaRPr>
          </a:p>
        </p:txBody>
      </p:sp>
      <p:sp>
        <p:nvSpPr>
          <p:cNvPr id="44" name="Text 23">
            <a:extLst>
              <a:ext uri="{FF2B5EF4-FFF2-40B4-BE49-F238E27FC236}">
                <a16:creationId xmlns:a16="http://schemas.microsoft.com/office/drawing/2014/main" id="{430EE856-E098-590D-88D6-DDDCA8556376}"/>
              </a:ext>
            </a:extLst>
          </p:cNvPr>
          <p:cNvSpPr/>
          <p:nvPr/>
        </p:nvSpPr>
        <p:spPr>
          <a:xfrm>
            <a:off x="6035040" y="1970532"/>
            <a:ext cx="2029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>
              <a:solidFill>
                <a:srgbClr val="1E293B"/>
              </a:solidFill>
              <a:ea typeface="Calibri"/>
              <a:cs typeface="Calibri"/>
            </a:endParaRPr>
          </a:p>
        </p:txBody>
      </p:sp>
      <p:sp>
        <p:nvSpPr>
          <p:cNvPr id="46" name="Text 24">
            <a:extLst>
              <a:ext uri="{FF2B5EF4-FFF2-40B4-BE49-F238E27FC236}">
                <a16:creationId xmlns:a16="http://schemas.microsoft.com/office/drawing/2014/main" id="{3B54CC46-439A-2AF6-2B73-2A14D57DB847}"/>
              </a:ext>
            </a:extLst>
          </p:cNvPr>
          <p:cNvSpPr/>
          <p:nvPr/>
        </p:nvSpPr>
        <p:spPr>
          <a:xfrm>
            <a:off x="6035040" y="2189988"/>
            <a:ext cx="2029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>
                <a:solidFill>
                  <a:srgbClr val="94A3B8"/>
                </a:solidFill>
              </a:rPr>
              <a:t>)</a:t>
            </a:r>
            <a:endParaRPr lang="en-US" sz="900"/>
          </a:p>
        </p:txBody>
      </p:sp>
      <p:sp>
        <p:nvSpPr>
          <p:cNvPr id="2" name="Shape 5">
            <a:extLst>
              <a:ext uri="{FF2B5EF4-FFF2-40B4-BE49-F238E27FC236}">
                <a16:creationId xmlns:a16="http://schemas.microsoft.com/office/drawing/2014/main" id="{AD60ECD7-D4DB-DD67-1EA6-14113B6BE56C}"/>
              </a:ext>
            </a:extLst>
          </p:cNvPr>
          <p:cNvSpPr/>
          <p:nvPr/>
        </p:nvSpPr>
        <p:spPr>
          <a:xfrm>
            <a:off x="368808" y="3474721"/>
            <a:ext cx="2029968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EA5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" name="Shape 6">
            <a:extLst>
              <a:ext uri="{FF2B5EF4-FFF2-40B4-BE49-F238E27FC236}">
                <a16:creationId xmlns:a16="http://schemas.microsoft.com/office/drawing/2014/main" id="{A0989504-9BED-DABB-8862-FCD5758716C2}"/>
              </a:ext>
            </a:extLst>
          </p:cNvPr>
          <p:cNvSpPr/>
          <p:nvPr/>
        </p:nvSpPr>
        <p:spPr>
          <a:xfrm>
            <a:off x="368808" y="3474721"/>
            <a:ext cx="2029968" cy="91440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5" name="Text 7">
            <a:extLst>
              <a:ext uri="{FF2B5EF4-FFF2-40B4-BE49-F238E27FC236}">
                <a16:creationId xmlns:a16="http://schemas.microsoft.com/office/drawing/2014/main" id="{D4E9740B-47C4-0051-E55F-35557016CAB7}"/>
              </a:ext>
            </a:extLst>
          </p:cNvPr>
          <p:cNvSpPr/>
          <p:nvPr/>
        </p:nvSpPr>
        <p:spPr>
          <a:xfrm>
            <a:off x="368808" y="3566161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EA5A0"/>
                </a:solidFill>
              </a:rPr>
              <a:t>80.0%</a:t>
            </a:r>
            <a:endParaRPr lang="en-US" sz="3000" dirty="0">
              <a:solidFill>
                <a:srgbClr val="0EA5A0"/>
              </a:solidFill>
            </a:endParaRPr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FAEF54B6-9549-BA02-A2FD-6F7CE10E949E}"/>
              </a:ext>
            </a:extLst>
          </p:cNvPr>
          <p:cNvSpPr/>
          <p:nvPr/>
        </p:nvSpPr>
        <p:spPr>
          <a:xfrm>
            <a:off x="368808" y="4133089"/>
            <a:ext cx="2029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EA5A0"/>
                </a:solidFill>
              </a:rPr>
              <a:t>mAP@0.5</a:t>
            </a:r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03DEB4E6-C6D2-98DD-CF87-4F59DA47C4D1}"/>
              </a:ext>
            </a:extLst>
          </p:cNvPr>
          <p:cNvSpPr/>
          <p:nvPr/>
        </p:nvSpPr>
        <p:spPr>
          <a:xfrm>
            <a:off x="368808" y="4352545"/>
            <a:ext cx="2029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EA5A0"/>
                </a:solidFill>
              </a:rPr>
              <a:t>All classes</a:t>
            </a:r>
            <a:endParaRPr lang="en-US" sz="900" dirty="0">
              <a:solidFill>
                <a:srgbClr val="0EA5A0"/>
              </a:solidFill>
            </a:endParaRP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B847EB4A-F803-657B-808D-853D4438AFD8}"/>
              </a:ext>
            </a:extLst>
          </p:cNvPr>
          <p:cNvSpPr/>
          <p:nvPr/>
        </p:nvSpPr>
        <p:spPr>
          <a:xfrm>
            <a:off x="3201924" y="3465577"/>
            <a:ext cx="2029968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4631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511DE68E-2A28-BC5C-C813-2A703CB567F4}"/>
              </a:ext>
            </a:extLst>
          </p:cNvPr>
          <p:cNvSpPr/>
          <p:nvPr/>
        </p:nvSpPr>
        <p:spPr>
          <a:xfrm>
            <a:off x="3201924" y="3465577"/>
            <a:ext cx="2029968" cy="9144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solidFill>
              <a:schemeClr val="accent2">
                <a:lumMod val="75000"/>
              </a:schemeClr>
            </a:solidFill>
            <a:prstDash val="solid"/>
          </a:ln>
        </p:spPr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62C16DFE-5F1B-CDE0-D6F9-89C3EA8B8BC1}"/>
              </a:ext>
            </a:extLst>
          </p:cNvPr>
          <p:cNvSpPr/>
          <p:nvPr/>
        </p:nvSpPr>
        <p:spPr>
          <a:xfrm>
            <a:off x="3201924" y="3557017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accent2">
                    <a:lumMod val="75000"/>
                  </a:schemeClr>
                </a:solidFill>
              </a:rPr>
              <a:t>81.3%</a:t>
            </a:r>
            <a:endParaRPr lang="en-US" sz="3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B460AC3A-8F82-995D-F1E4-43A7BEE289A7}"/>
              </a:ext>
            </a:extLst>
          </p:cNvPr>
          <p:cNvSpPr/>
          <p:nvPr/>
        </p:nvSpPr>
        <p:spPr>
          <a:xfrm>
            <a:off x="3201924" y="4123945"/>
            <a:ext cx="2029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2">
                    <a:lumMod val="75000"/>
                  </a:schemeClr>
                </a:solidFill>
              </a:rPr>
              <a:t>Precision</a:t>
            </a:r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BFB007C1-2B8A-FD86-0D74-160370E732CA}"/>
              </a:ext>
            </a:extLst>
          </p:cNvPr>
          <p:cNvSpPr/>
          <p:nvPr/>
        </p:nvSpPr>
        <p:spPr>
          <a:xfrm>
            <a:off x="3201924" y="4343401"/>
            <a:ext cx="2029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chemeClr val="accent2">
                    <a:lumMod val="75000"/>
                  </a:schemeClr>
                </a:solidFill>
              </a:rPr>
              <a:t>Fire+Smoke</a:t>
            </a:r>
            <a:endParaRPr lang="en-US" sz="9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9" name="Shape 15">
            <a:extLst>
              <a:ext uri="{FF2B5EF4-FFF2-40B4-BE49-F238E27FC236}">
                <a16:creationId xmlns:a16="http://schemas.microsoft.com/office/drawing/2014/main" id="{34508471-F64D-874E-41BE-6E5F2AE2838D}"/>
              </a:ext>
            </a:extLst>
          </p:cNvPr>
          <p:cNvSpPr/>
          <p:nvPr/>
        </p:nvSpPr>
        <p:spPr>
          <a:xfrm>
            <a:off x="6035040" y="3456433"/>
            <a:ext cx="2029968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9933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6">
            <a:extLst>
              <a:ext uri="{FF2B5EF4-FFF2-40B4-BE49-F238E27FC236}">
                <a16:creationId xmlns:a16="http://schemas.microsoft.com/office/drawing/2014/main" id="{5EEB45B3-63F5-1F74-A649-AC484F743A87}"/>
              </a:ext>
            </a:extLst>
          </p:cNvPr>
          <p:cNvSpPr/>
          <p:nvPr/>
        </p:nvSpPr>
        <p:spPr>
          <a:xfrm>
            <a:off x="6035040" y="3456433"/>
            <a:ext cx="2029968" cy="91440"/>
          </a:xfrm>
          <a:prstGeom prst="rect">
            <a:avLst/>
          </a:prstGeom>
          <a:solidFill>
            <a:srgbClr val="9933FF"/>
          </a:solidFill>
          <a:ln w="12700">
            <a:solidFill>
              <a:srgbClr val="9933FF"/>
            </a:solidFill>
            <a:prstDash val="solid"/>
          </a:ln>
        </p:spPr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8AB67B1D-9644-3F64-CDEA-31AE7992317F}"/>
              </a:ext>
            </a:extLst>
          </p:cNvPr>
          <p:cNvSpPr/>
          <p:nvPr/>
        </p:nvSpPr>
        <p:spPr>
          <a:xfrm>
            <a:off x="6035040" y="3547873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7C3AED"/>
                </a:solidFill>
              </a:rPr>
              <a:t>71.8%</a:t>
            </a:r>
            <a:endParaRPr lang="en-US" sz="3000" dirty="0"/>
          </a:p>
        </p:txBody>
      </p:sp>
      <p:sp>
        <p:nvSpPr>
          <p:cNvPr id="25" name="Text 18">
            <a:extLst>
              <a:ext uri="{FF2B5EF4-FFF2-40B4-BE49-F238E27FC236}">
                <a16:creationId xmlns:a16="http://schemas.microsoft.com/office/drawing/2014/main" id="{317EAB13-E8FD-8480-75BA-3F7AD126D6F5}"/>
              </a:ext>
            </a:extLst>
          </p:cNvPr>
          <p:cNvSpPr/>
          <p:nvPr/>
        </p:nvSpPr>
        <p:spPr>
          <a:xfrm>
            <a:off x="6035040" y="4114801"/>
            <a:ext cx="2029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933FF"/>
                </a:solidFill>
              </a:rPr>
              <a:t>Recall</a:t>
            </a:r>
          </a:p>
        </p:txBody>
      </p:sp>
      <p:sp>
        <p:nvSpPr>
          <p:cNvPr id="27" name="Text 19">
            <a:extLst>
              <a:ext uri="{FF2B5EF4-FFF2-40B4-BE49-F238E27FC236}">
                <a16:creationId xmlns:a16="http://schemas.microsoft.com/office/drawing/2014/main" id="{8E29360E-3165-BF7A-A929-802DFA45E6A2}"/>
              </a:ext>
            </a:extLst>
          </p:cNvPr>
          <p:cNvSpPr/>
          <p:nvPr/>
        </p:nvSpPr>
        <p:spPr>
          <a:xfrm>
            <a:off x="6035040" y="4334257"/>
            <a:ext cx="2029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933FF"/>
                </a:solidFill>
              </a:rPr>
              <a:t>Fire+Smoke</a:t>
            </a:r>
            <a:endParaRPr lang="en-US" sz="900" dirty="0">
              <a:solidFill>
                <a:srgbClr val="9933FF"/>
              </a:solidFill>
            </a:endParaRPr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D8BEC7E4-45FE-0C64-2D92-5F038A51E4FB}"/>
              </a:ext>
            </a:extLst>
          </p:cNvPr>
          <p:cNvSpPr/>
          <p:nvPr/>
        </p:nvSpPr>
        <p:spPr>
          <a:xfrm>
            <a:off x="6035040" y="4123945"/>
            <a:ext cx="2029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>
              <a:solidFill>
                <a:srgbClr val="1E293B"/>
              </a:solidFill>
              <a:ea typeface="Calibri"/>
              <a:cs typeface="Calibri"/>
            </a:endParaRPr>
          </a:p>
        </p:txBody>
      </p:sp>
      <p:sp>
        <p:nvSpPr>
          <p:cNvPr id="31" name="Text 24">
            <a:extLst>
              <a:ext uri="{FF2B5EF4-FFF2-40B4-BE49-F238E27FC236}">
                <a16:creationId xmlns:a16="http://schemas.microsoft.com/office/drawing/2014/main" id="{B1414C0C-344E-1CA4-BA30-FBEACDB72686}"/>
              </a:ext>
            </a:extLst>
          </p:cNvPr>
          <p:cNvSpPr/>
          <p:nvPr/>
        </p:nvSpPr>
        <p:spPr>
          <a:xfrm>
            <a:off x="6035040" y="4343401"/>
            <a:ext cx="2029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>
                <a:solidFill>
                  <a:srgbClr val="94A3B8"/>
                </a:solidFill>
              </a:rPr>
              <a:t>)</a:t>
            </a:r>
            <a:endParaRPr lang="en-US" sz="90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1B6D471-F978-75D4-C772-598382F710AF}"/>
              </a:ext>
            </a:extLst>
          </p:cNvPr>
          <p:cNvSpPr txBox="1"/>
          <p:nvPr/>
        </p:nvSpPr>
        <p:spPr>
          <a:xfrm>
            <a:off x="368808" y="876300"/>
            <a:ext cx="66415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YOLOv8s 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6772D9D-8E93-284F-2ECD-F152C08CCCF8}"/>
              </a:ext>
            </a:extLst>
          </p:cNvPr>
          <p:cNvSpPr txBox="1"/>
          <p:nvPr/>
        </p:nvSpPr>
        <p:spPr>
          <a:xfrm>
            <a:off x="408432" y="3007591"/>
            <a:ext cx="66415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YOLOv8n</a:t>
            </a:r>
            <a:endParaRPr lang="en-US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04063A6-8D70-5AF8-5A26-F1274C848864}"/>
              </a:ext>
            </a:extLst>
          </p:cNvPr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9A9EE38-9834-6B91-8063-9079A5954851}"/>
              </a:ext>
            </a:extLst>
          </p:cNvPr>
          <p:cNvSpPr/>
          <p:nvPr/>
        </p:nvSpPr>
        <p:spPr>
          <a:xfrm>
            <a:off x="0" y="0"/>
            <a:ext cx="137160" cy="749808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2AC71D3-A93B-44B9-4C07-22BC28D4F235}"/>
              </a:ext>
            </a:extLst>
          </p:cNvPr>
          <p:cNvSpPr/>
          <p:nvPr/>
        </p:nvSpPr>
        <p:spPr>
          <a:xfrm>
            <a:off x="274320" y="0"/>
            <a:ext cx="8686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Comparison  —  YOLOv8n  vs  YOLOv8s</a:t>
            </a:r>
            <a:endParaRPr lang="en-US" sz="2400" dirty="0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2787C306-8987-E713-69B8-959F7C434B52}"/>
              </a:ext>
            </a:extLst>
          </p:cNvPr>
          <p:cNvSpPr/>
          <p:nvPr/>
        </p:nvSpPr>
        <p:spPr>
          <a:xfrm>
            <a:off x="201168" y="896112"/>
            <a:ext cx="3977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YOLOv8n  —  Nano</a:t>
            </a:r>
            <a:endParaRPr lang="en-US" sz="1700" dirty="0"/>
          </a:p>
        </p:txBody>
      </p:sp>
      <p:sp>
        <p:nvSpPr>
          <p:cNvPr id="8" name="Text 34">
            <a:extLst>
              <a:ext uri="{FF2B5EF4-FFF2-40B4-BE49-F238E27FC236}">
                <a16:creationId xmlns:a16="http://schemas.microsoft.com/office/drawing/2014/main" id="{1F3E2AC9-99F2-9C46-C2E4-E76E8AE4E06B}"/>
              </a:ext>
            </a:extLst>
          </p:cNvPr>
          <p:cNvSpPr/>
          <p:nvPr/>
        </p:nvSpPr>
        <p:spPr>
          <a:xfrm>
            <a:off x="4965192" y="896112"/>
            <a:ext cx="38679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YOLOv8s  —  Small</a:t>
            </a:r>
            <a:endParaRPr lang="en-US" sz="1500" dirty="0"/>
          </a:p>
        </p:txBody>
      </p:sp>
      <p:sp>
        <p:nvSpPr>
          <p:cNvPr id="12" name="Text 31">
            <a:extLst>
              <a:ext uri="{FF2B5EF4-FFF2-40B4-BE49-F238E27FC236}">
                <a16:creationId xmlns:a16="http://schemas.microsoft.com/office/drawing/2014/main" id="{9167F0D6-7267-D821-C4F3-0C3FF22F79B5}"/>
              </a:ext>
            </a:extLst>
          </p:cNvPr>
          <p:cNvSpPr/>
          <p:nvPr/>
        </p:nvSpPr>
        <p:spPr>
          <a:xfrm>
            <a:off x="3922776" y="2215134"/>
            <a:ext cx="10424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VS</a:t>
            </a:r>
            <a:endParaRPr lang="en-US" sz="2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FA2F84E-CE79-B9F5-59F8-195995AE89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656" y="978694"/>
            <a:ext cx="4338344" cy="348138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AA365B1-2763-FE25-21A0-2B9834D768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948445"/>
            <a:ext cx="4451306" cy="3516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102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0">
            <a:extLst>
              <a:ext uri="{FF2B5EF4-FFF2-40B4-BE49-F238E27FC236}">
                <a16:creationId xmlns:a16="http://schemas.microsoft.com/office/drawing/2014/main" id="{918BADE6-7699-2200-D9CE-776695C12927}"/>
              </a:ext>
            </a:extLst>
          </p:cNvPr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4C207137-B9B5-FC77-5DD7-F6F76C67814D}"/>
              </a:ext>
            </a:extLst>
          </p:cNvPr>
          <p:cNvSpPr/>
          <p:nvPr/>
        </p:nvSpPr>
        <p:spPr>
          <a:xfrm>
            <a:off x="0" y="0"/>
            <a:ext cx="137160" cy="749808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821B0063-DDD1-9DEE-AA84-EC7B2019B925}"/>
              </a:ext>
            </a:extLst>
          </p:cNvPr>
          <p:cNvSpPr/>
          <p:nvPr/>
        </p:nvSpPr>
        <p:spPr>
          <a:xfrm>
            <a:off x="274320" y="0"/>
            <a:ext cx="8686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Inference  —  YOLOv8s Detection Results</a:t>
            </a:r>
            <a:endParaRPr lang="en-US" sz="2400" dirty="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212F2CA8-689F-4E86-0E00-8129788178EB}"/>
              </a:ext>
            </a:extLst>
          </p:cNvPr>
          <p:cNvSpPr/>
          <p:nvPr/>
        </p:nvSpPr>
        <p:spPr>
          <a:xfrm>
            <a:off x="1170432" y="76809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4" name="Shape 8">
            <a:extLst>
              <a:ext uri="{FF2B5EF4-FFF2-40B4-BE49-F238E27FC236}">
                <a16:creationId xmlns:a16="http://schemas.microsoft.com/office/drawing/2014/main" id="{6C3D1B9A-2413-9DCD-6E24-F69B7AEBC3E3}"/>
              </a:ext>
            </a:extLst>
          </p:cNvPr>
          <p:cNvSpPr/>
          <p:nvPr/>
        </p:nvSpPr>
        <p:spPr>
          <a:xfrm>
            <a:off x="164592" y="1536192"/>
            <a:ext cx="2798064" cy="2377440"/>
          </a:xfrm>
          <a:prstGeom prst="rect">
            <a:avLst/>
          </a:prstGeom>
          <a:solidFill>
            <a:srgbClr val="F1F5F9"/>
          </a:solidFill>
          <a:ln w="31750">
            <a:solidFill>
              <a:srgbClr val="0EA5A0"/>
            </a:solidFill>
            <a:prstDash val="solid"/>
          </a:ln>
          <a:effectLst>
            <a:outerShdw blurRad="76200" dist="25400" dir="8100000" algn="bl" rotWithShape="0">
              <a:srgbClr val="1E293B">
                <a:alpha val="12000"/>
              </a:srgbClr>
            </a:outerShdw>
          </a:effectLst>
        </p:spPr>
      </p:sp>
      <p:pic>
        <p:nvPicPr>
          <p:cNvPr id="15" name="Image 0" descr="preencoded.png">
            <a:extLst>
              <a:ext uri="{FF2B5EF4-FFF2-40B4-BE49-F238E27FC236}">
                <a16:creationId xmlns:a16="http://schemas.microsoft.com/office/drawing/2014/main" id="{AFFF804E-5108-27CF-70AF-E7E9D27599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01168" y="1572768"/>
            <a:ext cx="2724912" cy="2304288"/>
          </a:xfrm>
          <a:prstGeom prst="rect">
            <a:avLst/>
          </a:prstGeom>
        </p:spPr>
      </p:pic>
      <p:sp>
        <p:nvSpPr>
          <p:cNvPr id="16" name="Shape 9">
            <a:extLst>
              <a:ext uri="{FF2B5EF4-FFF2-40B4-BE49-F238E27FC236}">
                <a16:creationId xmlns:a16="http://schemas.microsoft.com/office/drawing/2014/main" id="{85769856-3773-39A7-DD62-833C24B07A2A}"/>
              </a:ext>
            </a:extLst>
          </p:cNvPr>
          <p:cNvSpPr/>
          <p:nvPr/>
        </p:nvSpPr>
        <p:spPr>
          <a:xfrm>
            <a:off x="164592" y="3822192"/>
            <a:ext cx="2798064" cy="274320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8C26610A-57A2-E75E-51AC-BF8D1CD54C5F}"/>
              </a:ext>
            </a:extLst>
          </p:cNvPr>
          <p:cNvSpPr/>
          <p:nvPr/>
        </p:nvSpPr>
        <p:spPr>
          <a:xfrm>
            <a:off x="164592" y="3822192"/>
            <a:ext cx="2798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Urban Building Fire</a:t>
            </a:r>
            <a:endParaRPr lang="en-US" sz="1000" dirty="0"/>
          </a:p>
        </p:txBody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2DF1DC4B-80A7-CD20-6F5F-46F6DA5C73B3}"/>
              </a:ext>
            </a:extLst>
          </p:cNvPr>
          <p:cNvSpPr/>
          <p:nvPr/>
        </p:nvSpPr>
        <p:spPr>
          <a:xfrm>
            <a:off x="164592" y="4142232"/>
            <a:ext cx="2798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A5A0"/>
                </a:solidFill>
              </a:rPr>
              <a:t>FIRE 0.79</a:t>
            </a:r>
            <a:endParaRPr lang="en-US" sz="1000" dirty="0">
              <a:solidFill>
                <a:srgbClr val="0EA5A0"/>
              </a:solidFill>
            </a:endParaRPr>
          </a:p>
        </p:txBody>
      </p:sp>
      <p:sp>
        <p:nvSpPr>
          <p:cNvPr id="19" name="Text 12">
            <a:extLst>
              <a:ext uri="{FF2B5EF4-FFF2-40B4-BE49-F238E27FC236}">
                <a16:creationId xmlns:a16="http://schemas.microsoft.com/office/drawing/2014/main" id="{BCE2E23C-60A8-03D5-28C0-47F97467A236}"/>
              </a:ext>
            </a:extLst>
          </p:cNvPr>
          <p:cNvSpPr/>
          <p:nvPr/>
        </p:nvSpPr>
        <p:spPr>
          <a:xfrm>
            <a:off x="164592" y="4425696"/>
            <a:ext cx="2798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EA5A0"/>
                </a:solidFill>
              </a:rPr>
              <a:t>Indoor / Residential</a:t>
            </a:r>
            <a:endParaRPr lang="en-US" sz="900" dirty="0">
              <a:solidFill>
                <a:srgbClr val="0EA5A0"/>
              </a:solidFill>
            </a:endParaRPr>
          </a:p>
        </p:txBody>
      </p:sp>
      <p:sp>
        <p:nvSpPr>
          <p:cNvPr id="20" name="Shape 13">
            <a:extLst>
              <a:ext uri="{FF2B5EF4-FFF2-40B4-BE49-F238E27FC236}">
                <a16:creationId xmlns:a16="http://schemas.microsoft.com/office/drawing/2014/main" id="{F9C3AD8B-F1EC-FCAE-5338-A2A9A6D465E2}"/>
              </a:ext>
            </a:extLst>
          </p:cNvPr>
          <p:cNvSpPr/>
          <p:nvPr/>
        </p:nvSpPr>
        <p:spPr>
          <a:xfrm>
            <a:off x="3145536" y="1536192"/>
            <a:ext cx="2798064" cy="2377440"/>
          </a:xfrm>
          <a:prstGeom prst="rect">
            <a:avLst/>
          </a:prstGeom>
          <a:solidFill>
            <a:srgbClr val="F1F5F9"/>
          </a:solidFill>
          <a:ln w="31750">
            <a:solidFill>
              <a:schemeClr val="accent2">
                <a:lumMod val="75000"/>
              </a:schemeClr>
            </a:solidFill>
            <a:prstDash val="solid"/>
          </a:ln>
          <a:effectLst>
            <a:outerShdw blurRad="76200" dist="25400" dir="8100000" algn="bl" rotWithShape="0">
              <a:srgbClr val="1E293B">
                <a:alpha val="12000"/>
              </a:srgbClr>
            </a:outerShdw>
          </a:effectLst>
        </p:spPr>
      </p:sp>
      <p:pic>
        <p:nvPicPr>
          <p:cNvPr id="21" name="Image 1" descr="preencoded.png">
            <a:extLst>
              <a:ext uri="{FF2B5EF4-FFF2-40B4-BE49-F238E27FC236}">
                <a16:creationId xmlns:a16="http://schemas.microsoft.com/office/drawing/2014/main" id="{8FDCABE6-DB47-0E2B-85FF-83909E39D7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182112" y="1572768"/>
            <a:ext cx="2724912" cy="2304288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22" name="Shape 14">
            <a:extLst>
              <a:ext uri="{FF2B5EF4-FFF2-40B4-BE49-F238E27FC236}">
                <a16:creationId xmlns:a16="http://schemas.microsoft.com/office/drawing/2014/main" id="{E68F2C29-2AE3-9DEE-7853-C224996AD51C}"/>
              </a:ext>
            </a:extLst>
          </p:cNvPr>
          <p:cNvSpPr/>
          <p:nvPr/>
        </p:nvSpPr>
        <p:spPr>
          <a:xfrm>
            <a:off x="3145536" y="3822192"/>
            <a:ext cx="2798064" cy="27432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solidFill>
              <a:schemeClr val="accent2">
                <a:lumMod val="75000"/>
              </a:schemeClr>
            </a:solidFill>
            <a:prstDash val="solid"/>
          </a:ln>
        </p:spPr>
      </p:sp>
      <p:sp>
        <p:nvSpPr>
          <p:cNvPr id="23" name="Text 15">
            <a:extLst>
              <a:ext uri="{FF2B5EF4-FFF2-40B4-BE49-F238E27FC236}">
                <a16:creationId xmlns:a16="http://schemas.microsoft.com/office/drawing/2014/main" id="{0C54384D-CEB8-C8A5-A4D7-4C117408C317}"/>
              </a:ext>
            </a:extLst>
          </p:cNvPr>
          <p:cNvSpPr/>
          <p:nvPr/>
        </p:nvSpPr>
        <p:spPr>
          <a:xfrm>
            <a:off x="3145536" y="3822192"/>
            <a:ext cx="2798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Forest / Wildfire Smoke</a:t>
            </a:r>
            <a:endParaRPr lang="en-US" sz="1000" dirty="0"/>
          </a:p>
        </p:txBody>
      </p:sp>
      <p:sp>
        <p:nvSpPr>
          <p:cNvPr id="24" name="Text 16">
            <a:extLst>
              <a:ext uri="{FF2B5EF4-FFF2-40B4-BE49-F238E27FC236}">
                <a16:creationId xmlns:a16="http://schemas.microsoft.com/office/drawing/2014/main" id="{D9B0A7A7-DCD6-F560-4057-C3511816D05F}"/>
              </a:ext>
            </a:extLst>
          </p:cNvPr>
          <p:cNvSpPr/>
          <p:nvPr/>
        </p:nvSpPr>
        <p:spPr>
          <a:xfrm>
            <a:off x="3145536" y="4142232"/>
            <a:ext cx="2798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2">
                    <a:lumMod val="75000"/>
                  </a:schemeClr>
                </a:solidFill>
              </a:rPr>
              <a:t>SMOKE 0.74, 0.65</a:t>
            </a:r>
            <a:endParaRPr 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5" name="Text 17">
            <a:extLst>
              <a:ext uri="{FF2B5EF4-FFF2-40B4-BE49-F238E27FC236}">
                <a16:creationId xmlns:a16="http://schemas.microsoft.com/office/drawing/2014/main" id="{1CB54C08-6656-D789-CFEB-E5CC8577CFF9}"/>
              </a:ext>
            </a:extLst>
          </p:cNvPr>
          <p:cNvSpPr/>
          <p:nvPr/>
        </p:nvSpPr>
        <p:spPr>
          <a:xfrm>
            <a:off x="3145536" y="4425696"/>
            <a:ext cx="2798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chemeClr val="accent2">
                    <a:lumMod val="75000"/>
                  </a:schemeClr>
                </a:solidFill>
              </a:rPr>
              <a:t>UAV Aerial View</a:t>
            </a:r>
            <a:endParaRPr lang="en-US" sz="9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6" name="Shape 18">
            <a:extLst>
              <a:ext uri="{FF2B5EF4-FFF2-40B4-BE49-F238E27FC236}">
                <a16:creationId xmlns:a16="http://schemas.microsoft.com/office/drawing/2014/main" id="{F51D1AD7-FDBB-D88C-3341-0CE21E68991E}"/>
              </a:ext>
            </a:extLst>
          </p:cNvPr>
          <p:cNvSpPr/>
          <p:nvPr/>
        </p:nvSpPr>
        <p:spPr>
          <a:xfrm>
            <a:off x="6126480" y="1536192"/>
            <a:ext cx="2798064" cy="2377440"/>
          </a:xfrm>
          <a:prstGeom prst="rect">
            <a:avLst/>
          </a:prstGeom>
          <a:solidFill>
            <a:srgbClr val="F1F5F9"/>
          </a:solidFill>
          <a:ln w="31750">
            <a:solidFill>
              <a:srgbClr val="9933FF"/>
            </a:solidFill>
            <a:prstDash val="solid"/>
          </a:ln>
          <a:effectLst>
            <a:outerShdw blurRad="76200" dist="25400" dir="8100000" algn="bl" rotWithShape="0">
              <a:srgbClr val="1E293B">
                <a:alpha val="12000"/>
              </a:srgbClr>
            </a:outerShdw>
          </a:effectLst>
        </p:spPr>
      </p:sp>
      <p:pic>
        <p:nvPicPr>
          <p:cNvPr id="27" name="Image 2" descr="preencoded.png">
            <a:extLst>
              <a:ext uri="{FF2B5EF4-FFF2-40B4-BE49-F238E27FC236}">
                <a16:creationId xmlns:a16="http://schemas.microsoft.com/office/drawing/2014/main" id="{6693F5CB-F6C3-0AE6-8ADA-71F303FD94A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63056" y="1572768"/>
            <a:ext cx="2724912" cy="2304288"/>
          </a:xfrm>
          <a:prstGeom prst="rect">
            <a:avLst/>
          </a:prstGeom>
        </p:spPr>
      </p:pic>
      <p:sp>
        <p:nvSpPr>
          <p:cNvPr id="29" name="Text 20">
            <a:extLst>
              <a:ext uri="{FF2B5EF4-FFF2-40B4-BE49-F238E27FC236}">
                <a16:creationId xmlns:a16="http://schemas.microsoft.com/office/drawing/2014/main" id="{F4B10A3A-3BE6-6421-CF3C-1D084B71FF90}"/>
              </a:ext>
            </a:extLst>
          </p:cNvPr>
          <p:cNvSpPr/>
          <p:nvPr/>
        </p:nvSpPr>
        <p:spPr>
          <a:xfrm>
            <a:off x="6126480" y="3813048"/>
            <a:ext cx="2798064" cy="274320"/>
          </a:xfrm>
          <a:prstGeom prst="rect">
            <a:avLst/>
          </a:prstGeom>
          <a:solidFill>
            <a:srgbClr val="9933FF"/>
          </a:solidFill>
          <a:ln>
            <a:solidFill>
              <a:srgbClr val="9933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Industrial Vehicle Fire</a:t>
            </a:r>
            <a:endParaRPr lang="en-US" sz="1000" dirty="0"/>
          </a:p>
        </p:txBody>
      </p:sp>
      <p:sp>
        <p:nvSpPr>
          <p:cNvPr id="30" name="Text 21">
            <a:extLst>
              <a:ext uri="{FF2B5EF4-FFF2-40B4-BE49-F238E27FC236}">
                <a16:creationId xmlns:a16="http://schemas.microsoft.com/office/drawing/2014/main" id="{742A33F4-37EB-51C1-358D-868DC7F80D44}"/>
              </a:ext>
            </a:extLst>
          </p:cNvPr>
          <p:cNvSpPr/>
          <p:nvPr/>
        </p:nvSpPr>
        <p:spPr>
          <a:xfrm>
            <a:off x="6126480" y="4142232"/>
            <a:ext cx="2798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933FF"/>
                </a:solidFill>
              </a:rPr>
              <a:t>FIRE 0.36 + SMOKE 0.42</a:t>
            </a:r>
            <a:endParaRPr lang="en-US" sz="1000" dirty="0">
              <a:solidFill>
                <a:srgbClr val="9933FF"/>
              </a:solidFill>
            </a:endParaRPr>
          </a:p>
        </p:txBody>
      </p:sp>
      <p:sp>
        <p:nvSpPr>
          <p:cNvPr id="31" name="Text 22">
            <a:extLst>
              <a:ext uri="{FF2B5EF4-FFF2-40B4-BE49-F238E27FC236}">
                <a16:creationId xmlns:a16="http://schemas.microsoft.com/office/drawing/2014/main" id="{5EF65FB3-DF4F-B9D8-A501-3AAC56EC063B}"/>
              </a:ext>
            </a:extLst>
          </p:cNvPr>
          <p:cNvSpPr/>
          <p:nvPr/>
        </p:nvSpPr>
        <p:spPr>
          <a:xfrm>
            <a:off x="6126480" y="4425696"/>
            <a:ext cx="2798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933FF"/>
                </a:solidFill>
              </a:rPr>
              <a:t>Outdoor / Road Scene</a:t>
            </a:r>
            <a:endParaRPr lang="en-US" sz="900" dirty="0">
              <a:solidFill>
                <a:srgbClr val="9933FF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0869FBF-567B-D7E6-CC4F-C11EFA4C2F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82112" y="1572768"/>
            <a:ext cx="2724912" cy="22402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DA114F2-7922-77CF-217D-669A96B3E5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1168" y="1571053"/>
            <a:ext cx="2706624" cy="222370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37BDF62-7B21-B098-EF68-CCE3ED82475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63056" y="1571053"/>
            <a:ext cx="2724912" cy="2241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2815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Conclusion &amp; Future Works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01168" y="932688"/>
            <a:ext cx="41605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" y="932688"/>
            <a:ext cx="4160520" cy="47548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biLevel thresh="25000"/>
          </a:blip>
          <a:stretch>
            <a:fillRect/>
          </a:stretch>
        </p:blipFill>
        <p:spPr>
          <a:xfrm>
            <a:off x="292608" y="987552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932688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Conclusion</a:t>
            </a:r>
            <a:endParaRPr lang="en-US" sz="16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1554480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1792" y="1517904"/>
            <a:ext cx="3639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</a:rPr>
              <a:t>YOLOv8s achieves ~81.8% mAP@0.5 across fire &amp; smoke</a:t>
            </a:r>
            <a:endParaRPr lang="en-US" sz="1100">
              <a:solidFill>
                <a:srgbClr val="1E293B"/>
              </a:solidFill>
              <a:ea typeface="Calibri"/>
              <a:cs typeface="Calibri"/>
            </a:endParaRPr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94560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21792" y="2157984"/>
            <a:ext cx="3639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45,252-image multi-source corpus is the largest used in this class of detectors</a:t>
            </a:r>
            <a:endParaRPr lang="en-US" sz="11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834640"/>
            <a:ext cx="256032" cy="25603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21792" y="2798064"/>
            <a:ext cx="3639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Data-centric merging (4 sources) alone narrows the gap to modified architectures</a:t>
            </a:r>
            <a:endParaRPr lang="en-US" sz="11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3474720"/>
            <a:ext cx="256032" cy="25603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21792" y="3438144"/>
            <a:ext cx="3639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Real-time capable: ~14 ms/frame, 30+ FPS — suitable for live CCTV deployment</a:t>
            </a:r>
            <a:endParaRPr lang="en-US" sz="110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4114800"/>
            <a:ext cx="256032" cy="256032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621792" y="4078224"/>
            <a:ext cx="3639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Plug-and-play with existing optical cameras — no hardware upgrade required</a:t>
            </a:r>
            <a:endParaRPr lang="en-US" sz="1100" dirty="0"/>
          </a:p>
        </p:txBody>
      </p:sp>
      <p:sp>
        <p:nvSpPr>
          <p:cNvPr id="19" name="Shape 11"/>
          <p:cNvSpPr/>
          <p:nvPr/>
        </p:nvSpPr>
        <p:spPr>
          <a:xfrm>
            <a:off x="4773168" y="932688"/>
            <a:ext cx="41605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2"/>
          <p:cNvSpPr/>
          <p:nvPr/>
        </p:nvSpPr>
        <p:spPr>
          <a:xfrm>
            <a:off x="4773168" y="932688"/>
            <a:ext cx="4160520" cy="475488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solidFill>
              <a:schemeClr val="accent2">
                <a:lumMod val="75000"/>
              </a:schemeClr>
            </a:solidFill>
            <a:prstDash val="solid"/>
          </a:ln>
        </p:spPr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4">
            <a:biLevel thresh="25000"/>
          </a:blip>
          <a:stretch>
            <a:fillRect/>
          </a:stretch>
        </p:blipFill>
        <p:spPr>
          <a:xfrm>
            <a:off x="4864608" y="987552"/>
            <a:ext cx="292608" cy="292608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5230368" y="932688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Future Works</a:t>
            </a:r>
            <a:endParaRPr lang="en-US" sz="1600" dirty="0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5">
            <a:biLevel thresh="50000"/>
          </a:blip>
          <a:stretch>
            <a:fillRect/>
          </a:stretch>
        </p:blipFill>
        <p:spPr>
          <a:xfrm>
            <a:off x="4864608" y="1554480"/>
            <a:ext cx="256032" cy="256032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5193792" y="1517904"/>
            <a:ext cx="3639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E293B"/>
                </a:solidFill>
              </a:rPr>
              <a:t> RGB fusion</a:t>
            </a:r>
            <a:endParaRPr lang="en-US" sz="1150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25" name="Text 15"/>
          <p:cNvSpPr/>
          <p:nvPr/>
        </p:nvSpPr>
        <p:spPr>
          <a:xfrm>
            <a:off x="5193792" y="1773936"/>
            <a:ext cx="3639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Night-time &amp; low-light scenes using infrared cameras</a:t>
            </a:r>
            <a:endParaRPr lang="en-US" sz="950" dirty="0"/>
          </a:p>
        </p:txBody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6">
            <a:biLevel thresh="75000"/>
          </a:blip>
          <a:stretch>
            <a:fillRect/>
          </a:stretch>
        </p:blipFill>
        <p:spPr>
          <a:xfrm>
            <a:off x="4864608" y="2194560"/>
            <a:ext cx="256032" cy="256032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5193792" y="2157984"/>
            <a:ext cx="3639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</a:rPr>
              <a:t>Edge deployment (QAT)</a:t>
            </a:r>
            <a:endParaRPr lang="en-US" sz="1150" dirty="0"/>
          </a:p>
        </p:txBody>
      </p:sp>
      <p:sp>
        <p:nvSpPr>
          <p:cNvPr id="28" name="Text 17"/>
          <p:cNvSpPr/>
          <p:nvPr/>
        </p:nvSpPr>
        <p:spPr>
          <a:xfrm>
            <a:off x="5193792" y="2414016"/>
            <a:ext cx="3639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Jetson Nano / Raspberry Pi via Quantisation-Aware Training</a:t>
            </a:r>
            <a:endParaRPr lang="en-US" sz="950" dirty="0"/>
          </a:p>
        </p:txBody>
      </p:sp>
      <p:pic>
        <p:nvPicPr>
          <p:cNvPr id="29" name="Image 9" descr="preencoded.png"/>
          <p:cNvPicPr>
            <a:picLocks noChangeAspect="1"/>
          </p:cNvPicPr>
          <p:nvPr/>
        </p:nvPicPr>
        <p:blipFill>
          <a:blip r:embed="rId7">
            <a:biLevel thresh="50000"/>
          </a:blip>
          <a:stretch>
            <a:fillRect/>
          </a:stretch>
        </p:blipFill>
        <p:spPr>
          <a:xfrm>
            <a:off x="4855464" y="3470148"/>
            <a:ext cx="256032" cy="256032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5193792" y="2798064"/>
            <a:ext cx="3639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b="1">
                <a:solidFill>
                  <a:srgbClr val="1E293B"/>
                </a:solidFill>
                <a:ea typeface="Calibri"/>
                <a:cs typeface="Calibri"/>
              </a:rPr>
              <a:t>More smoke datasets </a:t>
            </a:r>
            <a:endParaRPr lang="en-US" sz="1150" b="1" dirty="0">
              <a:solidFill>
                <a:srgbClr val="1E293B"/>
              </a:solidFill>
              <a:ea typeface="Calibri"/>
              <a:cs typeface="Calibri"/>
            </a:endParaRPr>
          </a:p>
        </p:txBody>
      </p:sp>
      <p:sp>
        <p:nvSpPr>
          <p:cNvPr id="31" name="Text 19"/>
          <p:cNvSpPr/>
          <p:nvPr/>
        </p:nvSpPr>
        <p:spPr>
          <a:xfrm>
            <a:off x="5193792" y="3054096"/>
            <a:ext cx="3639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4A5568"/>
                </a:solidFill>
                <a:ea typeface="Calibri"/>
                <a:cs typeface="Calibri"/>
              </a:rPr>
              <a:t>Further improve smoke detection</a:t>
            </a:r>
          </a:p>
        </p:txBody>
      </p:sp>
      <p:pic>
        <p:nvPicPr>
          <p:cNvPr id="32" name="Image 10" descr="preencoded.png"/>
          <p:cNvPicPr>
            <a:picLocks noChangeAspect="1"/>
          </p:cNvPicPr>
          <p:nvPr/>
        </p:nvPicPr>
        <p:blipFill>
          <a:blip r:embed="rId8">
            <a:biLevel thresh="50000"/>
          </a:blip>
          <a:stretch>
            <a:fillRect/>
          </a:stretch>
        </p:blipFill>
        <p:spPr>
          <a:xfrm>
            <a:off x="4858512" y="2857501"/>
            <a:ext cx="256032" cy="256032"/>
          </a:xfrm>
          <a:prstGeom prst="rect">
            <a:avLst/>
          </a:prstGeom>
        </p:spPr>
      </p:pic>
      <p:sp>
        <p:nvSpPr>
          <p:cNvPr id="33" name="Text 20"/>
          <p:cNvSpPr/>
          <p:nvPr/>
        </p:nvSpPr>
        <p:spPr>
          <a:xfrm>
            <a:off x="5193792" y="3438144"/>
            <a:ext cx="3639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</a:rPr>
              <a:t>Expand detection classes</a:t>
            </a:r>
            <a:endParaRPr lang="en-US" sz="1150" dirty="0"/>
          </a:p>
        </p:txBody>
      </p:sp>
      <p:sp>
        <p:nvSpPr>
          <p:cNvPr id="34" name="Text 21"/>
          <p:cNvSpPr/>
          <p:nvPr/>
        </p:nvSpPr>
        <p:spPr>
          <a:xfrm>
            <a:off x="5193792" y="3694176"/>
            <a:ext cx="3639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Explosion, gas leak, person-in-danger multi-class</a:t>
            </a:r>
            <a:endParaRPr lang="en-US" sz="950" dirty="0"/>
          </a:p>
        </p:txBody>
      </p:sp>
      <p:pic>
        <p:nvPicPr>
          <p:cNvPr id="35" name="Image 11" descr="preencoded.png"/>
          <p:cNvPicPr>
            <a:picLocks noChangeAspect="1"/>
          </p:cNvPicPr>
          <p:nvPr/>
        </p:nvPicPr>
        <p:blipFill>
          <a:blip r:embed="rId9">
            <a:biLevel thresh="75000"/>
          </a:blip>
          <a:stretch>
            <a:fillRect/>
          </a:stretch>
        </p:blipFill>
        <p:spPr>
          <a:xfrm>
            <a:off x="4864608" y="4114800"/>
            <a:ext cx="256032" cy="256032"/>
          </a:xfrm>
          <a:prstGeom prst="rect">
            <a:avLst/>
          </a:prstGeom>
        </p:spPr>
      </p:pic>
      <p:sp>
        <p:nvSpPr>
          <p:cNvPr id="36" name="Text 22"/>
          <p:cNvSpPr/>
          <p:nvPr/>
        </p:nvSpPr>
        <p:spPr>
          <a:xfrm>
            <a:off x="5193792" y="4078224"/>
            <a:ext cx="3639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</a:rPr>
              <a:t>Online temporal modelling</a:t>
            </a:r>
            <a:endParaRPr lang="en-US" sz="1150" dirty="0"/>
          </a:p>
        </p:txBody>
      </p:sp>
      <p:sp>
        <p:nvSpPr>
          <p:cNvPr id="37" name="Text 23"/>
          <p:cNvSpPr/>
          <p:nvPr/>
        </p:nvSpPr>
        <p:spPr>
          <a:xfrm>
            <a:off x="5193792" y="4334256"/>
            <a:ext cx="3639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LSTM over optical flow to suppress false alarms from glare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081EB42C-7403-8C44-5105-9393B8AA65E4}"/>
              </a:ext>
            </a:extLst>
          </p:cNvPr>
          <p:cNvSpPr/>
          <p:nvPr/>
        </p:nvSpPr>
        <p:spPr>
          <a:xfrm>
            <a:off x="347472" y="502920"/>
            <a:ext cx="91440" cy="29260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69B80E3-F4FC-E0F4-8123-DAA496876E66}"/>
              </a:ext>
            </a:extLst>
          </p:cNvPr>
          <p:cNvSpPr/>
          <p:nvPr/>
        </p:nvSpPr>
        <p:spPr>
          <a:xfrm>
            <a:off x="594360" y="502920"/>
            <a:ext cx="77952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FC7EB49-3639-FF74-F162-53864F05A9EF}"/>
              </a:ext>
            </a:extLst>
          </p:cNvPr>
          <p:cNvSpPr/>
          <p:nvPr/>
        </p:nvSpPr>
        <p:spPr>
          <a:xfrm>
            <a:off x="2754630" y="2570226"/>
            <a:ext cx="3474720" cy="50292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E4B7429-F6EB-0B10-8A7B-5509B557F297}"/>
              </a:ext>
            </a:extLst>
          </p:cNvPr>
          <p:cNvSpPr/>
          <p:nvPr/>
        </p:nvSpPr>
        <p:spPr>
          <a:xfrm>
            <a:off x="594360" y="3547872"/>
            <a:ext cx="810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CSE468  ·  Computer Vision  ·  Section 01  ·  Group 07</a:t>
            </a:r>
            <a:endParaRPr lang="en-US" sz="11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3802D0E-EFD4-300F-3091-CBB1B597AC03}"/>
              </a:ext>
            </a:extLst>
          </p:cNvPr>
          <p:cNvSpPr/>
          <p:nvPr/>
        </p:nvSpPr>
        <p:spPr>
          <a:xfrm>
            <a:off x="594360" y="3877056"/>
            <a:ext cx="810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</a:rPr>
              <a:t>Khatune Jannat  ·  2131916642</a:t>
            </a:r>
            <a:endParaRPr lang="en-US" sz="12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1DB08042-FFBC-2202-971B-21A6DD0401E5}"/>
              </a:ext>
            </a:extLst>
          </p:cNvPr>
          <p:cNvSpPr/>
          <p:nvPr/>
        </p:nvSpPr>
        <p:spPr>
          <a:xfrm>
            <a:off x="594360" y="4169664"/>
            <a:ext cx="810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</a:rPr>
              <a:t>Mahdin Muhammad Jakir  ·  2232411042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7601185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</TotalTime>
  <Words>737</Words>
  <Application>Microsoft Office PowerPoint</Application>
  <PresentationFormat>On-screen Show (16:9)</PresentationFormat>
  <Paragraphs>185</Paragraphs>
  <Slides>10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Arial Black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Hridika Tuly</cp:lastModifiedBy>
  <cp:revision>131</cp:revision>
  <dcterms:created xsi:type="dcterms:W3CDTF">2026-05-03T04:09:48Z</dcterms:created>
  <dcterms:modified xsi:type="dcterms:W3CDTF">2026-05-04T07:59:04Z</dcterms:modified>
</cp:coreProperties>
</file>